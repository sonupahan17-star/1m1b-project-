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21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12" Type="http://schemas.openxmlformats.org/officeDocument/2006/relationships/image" Target="../media/image20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13" Type="http://schemas.openxmlformats.org/officeDocument/2006/relationships/image" Target="../media/image42.jpeg"/><Relationship Id="rId3" Type="http://schemas.openxmlformats.org/officeDocument/2006/relationships/image" Target="../media/image32.png"/><Relationship Id="rId7" Type="http://schemas.openxmlformats.org/officeDocument/2006/relationships/image" Target="../media/image36.jpeg"/><Relationship Id="rId12" Type="http://schemas.openxmlformats.org/officeDocument/2006/relationships/image" Target="../media/image41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jpeg"/><Relationship Id="rId11" Type="http://schemas.openxmlformats.org/officeDocument/2006/relationships/image" Target="../media/image40.jpeg"/><Relationship Id="rId5" Type="http://schemas.openxmlformats.org/officeDocument/2006/relationships/image" Target="../media/image34.jpeg"/><Relationship Id="rId10" Type="http://schemas.openxmlformats.org/officeDocument/2006/relationships/image" Target="../media/image39.jpeg"/><Relationship Id="rId4" Type="http://schemas.openxmlformats.org/officeDocument/2006/relationships/image" Target="../media/image33.jpeg"/><Relationship Id="rId9" Type="http://schemas.openxmlformats.org/officeDocument/2006/relationships/image" Target="../media/image38.jpeg"/><Relationship Id="rId14" Type="http://schemas.openxmlformats.org/officeDocument/2006/relationships/image" Target="../media/image4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45.jpeg"/><Relationship Id="rId7" Type="http://schemas.openxmlformats.org/officeDocument/2006/relationships/image" Target="../media/image49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10" Type="http://schemas.openxmlformats.org/officeDocument/2006/relationships/image" Target="../media/image52.jpeg"/><Relationship Id="rId4" Type="http://schemas.openxmlformats.org/officeDocument/2006/relationships/image" Target="../media/image46.jpeg"/><Relationship Id="rId9" Type="http://schemas.openxmlformats.org/officeDocument/2006/relationships/image" Target="../media/image5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58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3" Type="http://schemas.openxmlformats.org/officeDocument/2006/relationships/image" Target="../media/image60.png"/><Relationship Id="rId7" Type="http://schemas.openxmlformats.org/officeDocument/2006/relationships/image" Target="../media/image64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jpeg"/><Relationship Id="rId11" Type="http://schemas.openxmlformats.org/officeDocument/2006/relationships/image" Target="../media/image68.jpeg"/><Relationship Id="rId5" Type="http://schemas.openxmlformats.org/officeDocument/2006/relationships/image" Target="../media/image62.jpeg"/><Relationship Id="rId10" Type="http://schemas.openxmlformats.org/officeDocument/2006/relationships/image" Target="../media/image67.jpeg"/><Relationship Id="rId4" Type="http://schemas.openxmlformats.org/officeDocument/2006/relationships/image" Target="../media/image61.jpeg"/><Relationship Id="rId9" Type="http://schemas.openxmlformats.org/officeDocument/2006/relationships/image" Target="../media/image6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eg"/><Relationship Id="rId3" Type="http://schemas.openxmlformats.org/officeDocument/2006/relationships/image" Target="../media/image70.jpeg"/><Relationship Id="rId7" Type="http://schemas.openxmlformats.org/officeDocument/2006/relationships/image" Target="../media/image74.jpeg"/><Relationship Id="rId12" Type="http://schemas.openxmlformats.org/officeDocument/2006/relationships/image" Target="../media/image79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jpeg"/><Relationship Id="rId11" Type="http://schemas.openxmlformats.org/officeDocument/2006/relationships/image" Target="../media/image78.jpeg"/><Relationship Id="rId5" Type="http://schemas.openxmlformats.org/officeDocument/2006/relationships/image" Target="../media/image72.jpeg"/><Relationship Id="rId10" Type="http://schemas.openxmlformats.org/officeDocument/2006/relationships/image" Target="../media/image77.jpeg"/><Relationship Id="rId4" Type="http://schemas.openxmlformats.org/officeDocument/2006/relationships/image" Target="../media/image71.jpeg"/><Relationship Id="rId9" Type="http://schemas.openxmlformats.org/officeDocument/2006/relationships/image" Target="../media/image76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jpeg"/><Relationship Id="rId3" Type="http://schemas.openxmlformats.org/officeDocument/2006/relationships/image" Target="../media/image81.jpeg"/><Relationship Id="rId7" Type="http://schemas.openxmlformats.org/officeDocument/2006/relationships/image" Target="../media/image85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jpeg"/><Relationship Id="rId5" Type="http://schemas.openxmlformats.org/officeDocument/2006/relationships/image" Target="../media/image83.jpeg"/><Relationship Id="rId4" Type="http://schemas.openxmlformats.org/officeDocument/2006/relationships/image" Target="../media/image8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85659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932328" y="502024"/>
            <a:ext cx="9879107" cy="597049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059814" algn="ctr" rtl="0" eaLnBrk="0">
              <a:lnSpc>
                <a:spcPct val="82000"/>
              </a:lnSpc>
              <a:tabLst/>
            </a:pPr>
            <a:r>
              <a:rPr lang="en-US" sz="4000" b="1" i="1" kern="0" spc="-180" dirty="0">
                <a:solidFill>
                  <a:srgbClr val="50C0C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4000" b="1" i="1" u="sng" kern="0" spc="-180" dirty="0">
                <a:solidFill>
                  <a:srgbClr val="50C0C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Al-Based</a:t>
            </a:r>
            <a:r>
              <a:rPr sz="4000" b="1" i="1" u="sng" kern="0" spc="310" dirty="0">
                <a:solidFill>
                  <a:srgbClr val="50C0C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4000" b="1" i="1" u="sng" kern="0" spc="-180" dirty="0">
                <a:solidFill>
                  <a:srgbClr val="50C0C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Mental</a:t>
            </a:r>
            <a:r>
              <a:rPr sz="4000" b="1" i="1" u="sng" kern="0" spc="300" dirty="0">
                <a:solidFill>
                  <a:srgbClr val="50C0C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4000" b="1" i="1" u="sng" kern="0" spc="-180" dirty="0">
                <a:solidFill>
                  <a:srgbClr val="50C0C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Health &amp;</a:t>
            </a:r>
            <a:endParaRPr sz="4000" b="1" i="1" u="sng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768350" algn="ctr" rtl="0" eaLnBrk="0">
              <a:lnSpc>
                <a:spcPct val="82000"/>
              </a:lnSpc>
              <a:spcBef>
                <a:spcPts val="1604"/>
              </a:spcBef>
              <a:tabLst/>
            </a:pPr>
            <a:r>
              <a:rPr lang="en-US" sz="4000" b="1" i="1" u="sng" kern="0" spc="-70" dirty="0">
                <a:solidFill>
                  <a:srgbClr val="40C0B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</a:t>
            </a:r>
            <a:r>
              <a:rPr sz="4000" b="1" i="1" u="sng" kern="0" spc="-70" dirty="0">
                <a:solidFill>
                  <a:srgbClr val="40C0B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Al-Based</a:t>
            </a:r>
            <a:r>
              <a:rPr sz="4000" b="1" i="1" u="sng" kern="0" spc="290" dirty="0">
                <a:solidFill>
                  <a:srgbClr val="40C0B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4000" b="1" i="1" u="sng" kern="0" spc="-70" dirty="0">
                <a:solidFill>
                  <a:srgbClr val="40C0B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Menta</a:t>
            </a:r>
            <a:r>
              <a:rPr sz="4000" b="1" i="1" u="sng" kern="0" spc="-80" dirty="0">
                <a:solidFill>
                  <a:srgbClr val="40C0B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</a:t>
            </a:r>
            <a:r>
              <a:rPr sz="4000" b="1" i="1" u="sng" kern="0" spc="310" dirty="0">
                <a:solidFill>
                  <a:srgbClr val="40C0B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4000" b="1" i="1" u="sng" kern="0" spc="-80" dirty="0">
                <a:solidFill>
                  <a:srgbClr val="40C0B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Health &amp;Stress</a:t>
            </a:r>
            <a:endParaRPr sz="4000" b="1" i="1" u="sng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253365" algn="l" rtl="0" eaLnBrk="0">
              <a:lnSpc>
                <a:spcPct val="82000"/>
              </a:lnSpc>
              <a:spcBef>
                <a:spcPts val="724"/>
              </a:spcBef>
              <a:tabLst/>
            </a:pPr>
            <a:endParaRPr lang="en-US" sz="4700" kern="0" spc="-150" dirty="0">
              <a:solidFill>
                <a:srgbClr val="006860">
                  <a:alpha val="100000"/>
                </a:srgbClr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253365" algn="ctr" rtl="0" eaLnBrk="0">
              <a:lnSpc>
                <a:spcPct val="82000"/>
              </a:lnSpc>
              <a:spcBef>
                <a:spcPts val="724"/>
              </a:spcBef>
              <a:tabLst/>
            </a:pPr>
            <a:r>
              <a:rPr lang="en-US" sz="3600" b="1" kern="0" spc="-150" dirty="0">
                <a:solidFill>
                  <a:srgbClr val="00686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 </a:t>
            </a:r>
            <a:r>
              <a:rPr sz="3600" b="1" kern="0" spc="-150" dirty="0">
                <a:solidFill>
                  <a:srgbClr val="00686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Detection System for Indian College</a:t>
            </a:r>
            <a:r>
              <a:rPr lang="en-US" sz="3600" b="1" kern="0" spc="-150" dirty="0">
                <a:solidFill>
                  <a:srgbClr val="00686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</a:t>
            </a:r>
            <a:endParaRPr lang="en-US" sz="3600" b="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lang="en-US"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12700" algn="l" rtl="0" eaLnBrk="0">
              <a:lnSpc>
                <a:spcPct val="81000"/>
              </a:lnSpc>
              <a:spcBef>
                <a:spcPts val="5"/>
              </a:spcBef>
              <a:tabLst/>
            </a:pPr>
            <a:r>
              <a:rPr sz="2500" b="1" u="sng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Presented by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:</a:t>
            </a:r>
            <a:r>
              <a:rPr lang="en-US" sz="25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500" kern="0" spc="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</a:t>
            </a:r>
            <a:r>
              <a:rPr sz="25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noop Gupta,Govind Singh,</a:t>
            </a:r>
            <a:endParaRPr lang="en-US" sz="2500" kern="0" spc="-10" dirty="0">
              <a:solidFill>
                <a:srgbClr val="FFFFFF">
                  <a:alpha val="100000"/>
                </a:srgbClr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12700" algn="l" rtl="0" eaLnBrk="0">
              <a:lnSpc>
                <a:spcPct val="81000"/>
              </a:lnSpc>
              <a:spcBef>
                <a:spcPts val="5"/>
              </a:spcBef>
              <a:tabLst/>
            </a:pPr>
            <a:r>
              <a:rPr lang="en-US" sz="25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                    </a:t>
            </a:r>
            <a:r>
              <a:rPr sz="2500" kern="0" spc="-10" dirty="0" err="1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Sonu</a:t>
            </a:r>
            <a:r>
              <a:rPr sz="2500" kern="0" spc="18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500" kern="0" spc="-10" dirty="0">
                <a:solidFill>
                  <a:srgbClr val="FFFFFF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Pahan,Ananya Srivastava</a:t>
            </a:r>
            <a:endParaRPr sz="25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577900" y="400027"/>
            <a:ext cx="3549578" cy="3187735"/>
            <a:chOff x="0" y="0"/>
            <a:chExt cx="3549578" cy="3187735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549578" cy="3187735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-12700" y="-12700"/>
              <a:ext cx="3575050" cy="32188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93065" algn="l" rtl="0" eaLnBrk="0">
                <a:lnSpc>
                  <a:spcPct val="81000"/>
                </a:lnSpc>
                <a:spcBef>
                  <a:spcPts val="6"/>
                </a:spcBef>
                <a:tabLst/>
              </a:pPr>
              <a:r>
                <a:rPr sz="2400" b="1" kern="0" spc="-70" dirty="0">
                  <a:solidFill>
                    <a:srgbClr val="30788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Mental</a:t>
              </a:r>
              <a:r>
                <a:rPr sz="2400" b="1" kern="0" spc="130" dirty="0">
                  <a:solidFill>
                    <a:srgbClr val="30788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400" b="1" kern="0" spc="-70" dirty="0">
                  <a:solidFill>
                    <a:srgbClr val="30788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Health Cri</a:t>
              </a:r>
              <a:r>
                <a:rPr sz="2400" b="1" kern="0" spc="-80" dirty="0">
                  <a:solidFill>
                    <a:srgbClr val="30788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sis</a:t>
              </a:r>
              <a:endParaRPr sz="2400" dirty="0">
                <a:latin typeface="Arial"/>
                <a:ea typeface="Arial"/>
                <a:cs typeface="Arial"/>
              </a:endParaRPr>
            </a:p>
            <a:p>
              <a:pPr marL="463550" algn="l" rtl="0" eaLnBrk="0">
                <a:lnSpc>
                  <a:spcPct val="81000"/>
                </a:lnSpc>
                <a:spcBef>
                  <a:spcPts val="319"/>
                </a:spcBef>
                <a:tabLst/>
              </a:pPr>
              <a:r>
                <a:rPr sz="2400" b="1" kern="0" spc="-110" dirty="0">
                  <a:solidFill>
                    <a:srgbClr val="40889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</a:t>
              </a:r>
              <a:r>
                <a:rPr sz="2400" b="1" kern="0" spc="180" dirty="0">
                  <a:solidFill>
                    <a:srgbClr val="40889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400" b="1" kern="0" spc="-110" dirty="0">
                  <a:solidFill>
                    <a:srgbClr val="40889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Indian</a:t>
              </a:r>
              <a:r>
                <a:rPr sz="2400" b="1" kern="0" spc="120" dirty="0">
                  <a:solidFill>
                    <a:srgbClr val="40889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2400" b="1" kern="0" spc="-110" dirty="0">
                  <a:solidFill>
                    <a:srgbClr val="40889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Education</a:t>
              </a:r>
              <a:endParaRPr sz="2400" dirty="0">
                <a:latin typeface="Arial"/>
                <a:ea typeface="Arial"/>
                <a:cs typeface="Arial"/>
              </a:endParaRPr>
            </a:p>
            <a:p>
              <a:pPr marL="1815464" algn="l" rtl="0" eaLnBrk="0">
                <a:lnSpc>
                  <a:spcPct val="82000"/>
                </a:lnSpc>
                <a:spcBef>
                  <a:spcPts val="2952"/>
                </a:spcBef>
                <a:tabLst/>
              </a:pPr>
              <a:r>
                <a:rPr sz="6600" b="1" kern="0" spc="-390" dirty="0">
                  <a:solidFill>
                    <a:srgbClr val="40D08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43%</a:t>
              </a:r>
              <a:endParaRPr sz="66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63550" algn="l" rtl="0" eaLnBrk="0">
                <a:lnSpc>
                  <a:spcPct val="77000"/>
                </a:lnSpc>
                <a:spcBef>
                  <a:spcPts val="420"/>
                </a:spcBef>
                <a:tabLst/>
              </a:pP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of</a:t>
              </a:r>
              <a:r>
                <a:rPr sz="1400" b="1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students</a:t>
              </a:r>
              <a:r>
                <a:rPr sz="1400" b="1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experience</a:t>
              </a:r>
              <a:r>
                <a:rPr sz="1400" b="1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clinical</a:t>
              </a:r>
              <a:endParaRPr sz="1400" dirty="0">
                <a:latin typeface="Arial"/>
                <a:ea typeface="Arial"/>
                <a:cs typeface="Arial"/>
              </a:endParaRPr>
            </a:p>
            <a:p>
              <a:pPr marL="1097914" indent="-634365" algn="l" rtl="0" eaLnBrk="0">
                <a:lnSpc>
                  <a:spcPct val="113000"/>
                </a:lnSpc>
                <a:spcBef>
                  <a:spcPts val="16"/>
                </a:spcBef>
                <a:tabLst/>
              </a:pPr>
              <a:r>
                <a:rPr sz="14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anxiety</a:t>
              </a:r>
              <a:r>
                <a:rPr sz="1400" kern="0" spc="3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and</a:t>
              </a:r>
              <a:r>
                <a:rPr sz="1400" kern="0" spc="3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</a:t>
              </a:r>
              <a:r>
                <a:rPr sz="14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pression</a:t>
              </a:r>
              <a:r>
                <a:rPr sz="1400" kern="0" spc="3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during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</a:t>
              </a:r>
              <a:r>
                <a:rPr sz="14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academic  year</a:t>
              </a:r>
              <a:r>
                <a:rPr sz="14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21159" y="1365222"/>
            <a:ext cx="3251240" cy="1295407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743761" y="4362442"/>
            <a:ext cx="2076418" cy="1847887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08060" y="4489452"/>
            <a:ext cx="4572000" cy="774679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9162998" y="4869228"/>
            <a:ext cx="2267585" cy="1020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93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7000"/>
              </a:lnSpc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Pilot</a:t>
            </a:r>
            <a:r>
              <a:rPr sz="14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programs</a:t>
            </a:r>
            <a:r>
              <a:rPr sz="14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</a:t>
            </a:r>
            <a:r>
              <a:rPr sz="14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37%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reduction</a:t>
            </a:r>
            <a:r>
              <a:rPr sz="14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4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severe</a:t>
            </a:r>
            <a:r>
              <a:rPr sz="14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 health</a:t>
            </a:r>
            <a:r>
              <a:rPr sz="14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incidents</a:t>
            </a:r>
            <a:r>
              <a:rPr sz="14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across</a:t>
            </a:r>
            <a:r>
              <a:rPr sz="14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12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institutions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4603800" y="2745376"/>
            <a:ext cx="3114675" cy="720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24"/>
              </a:lnSpc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Machine</a:t>
            </a:r>
            <a:r>
              <a:rPr sz="1400" b="1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learning algorithms</a:t>
            </a:r>
            <a:r>
              <a:rPr sz="1400" b="1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identify</a:t>
            </a:r>
            <a:endParaRPr sz="1400" dirty="0">
              <a:latin typeface="Arial"/>
              <a:ea typeface="Arial"/>
              <a:cs typeface="Arial"/>
            </a:endParaRPr>
          </a:p>
          <a:p>
            <a:pPr marL="82550" algn="l" rtl="0" eaLnBrk="0">
              <a:lnSpc>
                <a:spcPts val="1825"/>
              </a:lnSpc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stress</a:t>
            </a:r>
            <a:r>
              <a:rPr sz="14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patterns</a:t>
            </a:r>
            <a:r>
              <a:rPr sz="14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through</a:t>
            </a:r>
            <a:r>
              <a:rPr sz="14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behavioral</a:t>
            </a:r>
            <a:endParaRPr sz="1400" dirty="0">
              <a:latin typeface="Arial"/>
              <a:ea typeface="Arial"/>
              <a:cs typeface="Arial"/>
            </a:endParaRPr>
          </a:p>
          <a:p>
            <a:pPr marL="367665" algn="l" rtl="0" eaLnBrk="0">
              <a:lnSpc>
                <a:spcPct val="83000"/>
              </a:lnSpc>
              <a:spcBef>
                <a:spcPts val="330"/>
              </a:spcBef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academic</a:t>
            </a: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400" b="1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1123960" y="5834423"/>
            <a:ext cx="4343400" cy="516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1165" indent="-418465" algn="l" rtl="0" eaLnBrk="0">
              <a:lnSpc>
                <a:spcPct val="115000"/>
              </a:lnSpc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Automated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alerts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connect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struggling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students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counseling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resources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before</a:t>
            </a:r>
            <a:r>
              <a:rPr sz="1400" kern="0" spc="4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crisis</a:t>
            </a:r>
            <a:r>
              <a:rPr sz="14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points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8496341" y="2841687"/>
            <a:ext cx="2961639" cy="643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Ethical</a:t>
            </a: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collection</a:t>
            </a: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256-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bit</a:t>
            </a:r>
            <a:endParaRPr sz="14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80000"/>
              </a:lnSpc>
              <a:spcBef>
                <a:spcPts val="71"/>
              </a:spcBef>
              <a:tabLst/>
            </a:pP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encryption ensur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 student</a:t>
            </a:r>
            <a:endParaRPr sz="1400" dirty="0">
              <a:latin typeface="Arial"/>
              <a:ea typeface="Arial"/>
              <a:cs typeface="Arial"/>
            </a:endParaRPr>
          </a:p>
          <a:p>
            <a:pPr marL="888364" algn="l" rtl="0" eaLnBrk="0">
              <a:lnSpc>
                <a:spcPts val="2058"/>
              </a:lnSpc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confidentiality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28" name="table 28"/>
          <p:cNvGraphicFramePr>
            <a:graphicFrameLocks noGrp="1"/>
          </p:cNvGraphicFramePr>
          <p:nvPr/>
        </p:nvGraphicFramePr>
        <p:xfrm>
          <a:off x="1028760" y="5330890"/>
          <a:ext cx="4505960" cy="387033"/>
        </p:xfrm>
        <a:graphic>
          <a:graphicData uri="http://schemas.openxmlformats.org/drawingml/2006/table">
            <a:tbl>
              <a:tblPr/>
              <a:tblGrid>
                <a:gridCol w="1316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7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6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Struggling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1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6409" algn="l" rtl="0" eaLnBrk="0">
                        <a:lnSpc>
                          <a:spcPct val="7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200" b="1" kern="0" spc="-70" baseline="-94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Automated</a:t>
                      </a:r>
                      <a:endParaRPr sz="2200" baseline="-947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Counseling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1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8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" algn="l" rtl="0" eaLnBrk="0">
                        <a:lnSpc>
                          <a:spcPts val="1034"/>
                        </a:lnSpc>
                        <a:tabLst/>
                      </a:pPr>
                      <a:r>
                        <a:rPr sz="14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Students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0559" algn="l" rtl="0" eaLnBrk="0">
                        <a:lnSpc>
                          <a:spcPts val="106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Alerts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3234" algn="l" rtl="0" eaLnBrk="0">
                        <a:lnSpc>
                          <a:spcPts val="1015"/>
                        </a:lnSpc>
                        <a:tabLst/>
                      </a:pPr>
                      <a:r>
                        <a:rPr sz="1400" b="1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Resources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textbox 30"/>
          <p:cNvSpPr/>
          <p:nvPr/>
        </p:nvSpPr>
        <p:spPr>
          <a:xfrm>
            <a:off x="4940299" y="660824"/>
            <a:ext cx="2438400" cy="681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0000"/>
              </a:lnSpc>
              <a:tabLst/>
            </a:pPr>
            <a:r>
              <a:rPr sz="2400" b="1" kern="0" spc="-8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Al-Powered</a:t>
            </a:r>
            <a:r>
              <a:rPr sz="2400" b="1" kern="0" spc="12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8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400" b="1" kern="0" spc="-9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arly</a:t>
            </a:r>
            <a:endParaRPr sz="2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518"/>
              </a:spcBef>
              <a:tabLst/>
            </a:pPr>
            <a:r>
              <a:rPr sz="2400" b="1" kern="0" spc="-70" dirty="0">
                <a:solidFill>
                  <a:srgbClr val="7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Detection </a:t>
            </a:r>
            <a:r>
              <a:rPr sz="2400" b="1" kern="0" spc="-80" dirty="0">
                <a:solidFill>
                  <a:srgbClr val="7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8832839" y="660824"/>
            <a:ext cx="2304414" cy="685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tabLst/>
            </a:pPr>
            <a:r>
              <a:rPr sz="2400" b="1" kern="0" spc="-80" dirty="0">
                <a:solidFill>
                  <a:srgbClr val="407888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Privacy-Focuse</a:t>
            </a:r>
            <a:r>
              <a:rPr sz="2400" b="1" kern="0" spc="-90" dirty="0">
                <a:solidFill>
                  <a:srgbClr val="407888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endParaRPr sz="2400" dirty="0">
              <a:latin typeface="Arial"/>
              <a:ea typeface="Arial"/>
              <a:cs typeface="Arial"/>
            </a:endParaRPr>
          </a:p>
          <a:p>
            <a:pPr marL="76200" algn="l" rtl="0" eaLnBrk="0">
              <a:lnSpc>
                <a:spcPct val="80000"/>
              </a:lnSpc>
              <a:spcBef>
                <a:spcPts val="578"/>
              </a:spcBef>
              <a:tabLst/>
            </a:pPr>
            <a:r>
              <a:rPr sz="2400" b="1" kern="0" spc="-60" dirty="0">
                <a:solidFill>
                  <a:srgbClr val="206878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Implementation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261299" y="1473167"/>
            <a:ext cx="1174821" cy="1060452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540959" y="1479544"/>
            <a:ext cx="1181160" cy="104776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512319" y="1441482"/>
            <a:ext cx="958778" cy="114295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1016061" y="4042230"/>
            <a:ext cx="4568825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2400" b="1" kern="0" spc="-110" dirty="0">
                <a:solidFill>
                  <a:srgbClr val="50A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Real-tim</a:t>
            </a:r>
            <a:r>
              <a:rPr sz="2400" b="1" kern="0" spc="-100" dirty="0">
                <a:solidFill>
                  <a:srgbClr val="50A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r>
              <a:rPr sz="2400" b="1" kern="0" spc="100" dirty="0">
                <a:solidFill>
                  <a:srgbClr val="50A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00" dirty="0">
                <a:solidFill>
                  <a:srgbClr val="50A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</a:t>
            </a:r>
            <a:r>
              <a:rPr sz="2400" b="1" kern="0" spc="-110" dirty="0">
                <a:solidFill>
                  <a:srgbClr val="50A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rvention</a:t>
            </a:r>
            <a:r>
              <a:rPr sz="2400" b="1" kern="0" spc="110" dirty="0">
                <a:solidFill>
                  <a:srgbClr val="50A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kern="0" spc="-110" dirty="0">
                <a:solidFill>
                  <a:srgbClr val="50A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Framewor</a:t>
            </a:r>
            <a:r>
              <a:rPr sz="2400" b="1" kern="0" spc="-30" dirty="0">
                <a:solidFill>
                  <a:srgbClr val="50A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endParaRPr sz="2400" dirty="0">
              <a:latin typeface="Arial"/>
              <a:ea typeface="Arial"/>
              <a:cs typeface="Arial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7594619" y="4038572"/>
            <a:ext cx="2839720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4000"/>
              </a:lnSpc>
              <a:tabLst/>
            </a:pPr>
            <a:r>
              <a:rPr sz="2300" b="1" kern="0" spc="-70" dirty="0">
                <a:solidFill>
                  <a:srgbClr val="50B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Proven</a:t>
            </a:r>
            <a:r>
              <a:rPr sz="2300" b="1" kern="0" spc="180" dirty="0">
                <a:solidFill>
                  <a:srgbClr val="50B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b="1" kern="0" spc="-70" dirty="0">
                <a:solidFill>
                  <a:srgbClr val="50B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Effectiveness</a:t>
            </a:r>
            <a:endParaRPr sz="2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2158959" y="3378182"/>
            <a:ext cx="3784641" cy="1428795"/>
            <a:chOff x="0" y="0"/>
            <a:chExt cx="3784641" cy="1428795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784641" cy="1428795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3810634" cy="14598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0" algn="l" rtl="0" eaLnBrk="0">
                <a:lnSpc>
                  <a:spcPct val="81000"/>
                </a:lnSpc>
                <a:spcBef>
                  <a:spcPts val="3"/>
                </a:spcBef>
                <a:tabLst/>
              </a:pPr>
              <a:r>
                <a:rPr sz="1700" b="1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Suicide</a:t>
              </a:r>
              <a:r>
                <a:rPr sz="1700" b="1" kern="0" spc="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700" b="1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Rates Among Studen</a:t>
              </a:r>
              <a:r>
                <a:rPr sz="1700" b="1" kern="0" spc="-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ts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58750" algn="l" rtl="0" eaLnBrk="0">
                <a:lnSpc>
                  <a:spcPct val="114000"/>
                </a:lnSpc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Student</a:t>
              </a:r>
              <a:r>
                <a:rPr sz="1400" kern="0" spc="2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suicides</a:t>
              </a:r>
              <a:r>
                <a:rPr sz="1400" kern="0" spc="3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increased</a:t>
              </a:r>
              <a:r>
                <a:rPr sz="1400" kern="0" spc="3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by</a:t>
              </a:r>
              <a:r>
                <a:rPr sz="1400" kern="0" spc="2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6%from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2019-2025,with</a:t>
              </a:r>
              <a:r>
                <a:rPr sz="1400" kern="0" spc="4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academic  pressure</a:t>
              </a:r>
              <a:r>
                <a:rPr sz="1400" kern="0" spc="3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cited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as</a:t>
              </a:r>
              <a:r>
                <a:rPr sz="1400" kern="0" spc="2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primary</a:t>
              </a:r>
              <a:r>
                <a:rPr sz="1400" kern="0" spc="1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factor</a:t>
              </a:r>
              <a:r>
                <a:rPr sz="1400" kern="0" spc="2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</a:t>
              </a:r>
              <a:r>
                <a:rPr sz="1400" kern="0" spc="2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67%of</a:t>
              </a:r>
              <a:r>
                <a:rPr sz="1400" kern="0" spc="1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ases.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2152619" y="1663682"/>
            <a:ext cx="3790980" cy="1422417"/>
            <a:chOff x="0" y="0"/>
            <a:chExt cx="3790980" cy="1422417"/>
          </a:xfrm>
        </p:grpSpPr>
        <p:pic>
          <p:nvPicPr>
            <p:cNvPr id="50" name="pictur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3790980" cy="1422417"/>
            </a:xfrm>
            <a:prstGeom prst="rect">
              <a:avLst/>
            </a:prstGeom>
          </p:spPr>
        </p:pic>
        <p:sp>
          <p:nvSpPr>
            <p:cNvPr id="52" name="textbox 52"/>
            <p:cNvSpPr/>
            <p:nvPr/>
          </p:nvSpPr>
          <p:spPr>
            <a:xfrm>
              <a:off x="-12700" y="-12700"/>
              <a:ext cx="3816984" cy="14535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65100" algn="l" rtl="0" eaLnBrk="0">
                <a:lnSpc>
                  <a:spcPct val="82000"/>
                </a:lnSpc>
                <a:spcBef>
                  <a:spcPts val="6"/>
                </a:spcBef>
                <a:tabLst/>
              </a:pPr>
              <a:r>
                <a:rPr sz="1700" b="1" kern="0" spc="-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Academic</a:t>
              </a: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700" b="1" kern="0" spc="-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</a:t>
              </a:r>
              <a:r>
                <a:rPr sz="17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essure Statistics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65100" algn="l" rtl="0" eaLnBrk="0">
                <a:lnSpc>
                  <a:spcPct val="114000"/>
                </a:lnSpc>
                <a:spcBef>
                  <a:spcPts val="3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78%of  Indian  students  report  severe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academic</a:t>
              </a:r>
              <a:r>
                <a:rPr sz="1400" kern="0" spc="1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stress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,with</a:t>
              </a:r>
              <a:r>
                <a:rPr sz="1400" kern="0" spc="1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65%experiencing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anxiety</a:t>
              </a:r>
              <a:r>
                <a:rPr sz="1400" kern="0" spc="3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about</a:t>
              </a:r>
              <a:r>
                <a:rPr sz="1400" kern="0" spc="3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exam</a:t>
              </a:r>
              <a:r>
                <a:rPr sz="1400" kern="0" spc="3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performance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7740701" y="3378182"/>
            <a:ext cx="3759158" cy="1428795"/>
            <a:chOff x="0" y="0"/>
            <a:chExt cx="3759158" cy="1428795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759158" cy="1428795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-12700" y="-12700"/>
              <a:ext cx="3784600" cy="14598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7164" algn="l" rtl="0" eaLnBrk="0">
                <a:lnSpc>
                  <a:spcPct val="81000"/>
                </a:lnSpc>
                <a:spcBef>
                  <a:spcPts val="1"/>
                </a:spcBef>
                <a:tabLst/>
              </a:pPr>
              <a:r>
                <a:rPr sz="1700" b="1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Access to</a:t>
              </a:r>
              <a:r>
                <a:rPr sz="1700" b="1" kern="0" spc="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700" b="1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Mental</a:t>
              </a:r>
              <a:r>
                <a:rPr sz="1700" b="1" kern="0" spc="1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700" b="1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Health </a:t>
              </a:r>
              <a:r>
                <a:rPr sz="1700" b="1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Support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77164" algn="l" rtl="0" eaLnBrk="0">
                <a:lnSpc>
                  <a:spcPct val="114000"/>
                </a:lnSpc>
                <a:spcBef>
                  <a:spcPts val="2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Only</a:t>
              </a:r>
              <a:r>
                <a:rPr sz="1400" kern="0" spc="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11%of  educational</a:t>
              </a:r>
              <a:r>
                <a:rPr sz="1400" kern="0" spc="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institutions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have</a:t>
              </a:r>
              <a:r>
                <a:rPr sz="1400" kern="0" spc="2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adequate</a:t>
              </a:r>
              <a:r>
                <a:rPr sz="1400" kern="0" spc="2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counseling</a:t>
              </a:r>
              <a:r>
                <a:rPr sz="1400" kern="0" spc="1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services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despite  growing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emand.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7740701" y="1657372"/>
            <a:ext cx="3740139" cy="1422349"/>
            <a:chOff x="0" y="0"/>
            <a:chExt cx="3740139" cy="1422349"/>
          </a:xfrm>
        </p:grpSpPr>
        <p:pic>
          <p:nvPicPr>
            <p:cNvPr id="58" name="picture 5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3740139" cy="1422349"/>
            </a:xfrm>
            <a:prstGeom prst="rect">
              <a:avLst/>
            </a:prstGeom>
          </p:spPr>
        </p:pic>
        <p:sp>
          <p:nvSpPr>
            <p:cNvPr id="60" name="textbox 60"/>
            <p:cNvSpPr/>
            <p:nvPr/>
          </p:nvSpPr>
          <p:spPr>
            <a:xfrm>
              <a:off x="-12700" y="-12700"/>
              <a:ext cx="3765550" cy="14535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7164" algn="l" rtl="0" eaLnBrk="0">
                <a:lnSpc>
                  <a:spcPct val="81000"/>
                </a:lnSpc>
                <a:spcBef>
                  <a:spcPts val="4"/>
                </a:spcBef>
                <a:tabLst/>
              </a:pPr>
              <a:r>
                <a:rPr sz="1700" b="1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Mental</a:t>
              </a:r>
              <a:r>
                <a:rPr sz="1700" b="1" kern="0" spc="1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700" b="1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Health</a:t>
              </a:r>
              <a:r>
                <a:rPr sz="1700" b="1" kern="0" spc="1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700" b="1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Prevalence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marL="177164" algn="l" rtl="0" eaLnBrk="0">
                <a:lnSpc>
                  <a:spcPts val="1903"/>
                </a:lnSpc>
                <a:spcBef>
                  <a:spcPts val="515"/>
                </a:spcBef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42%of  college  students  s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how</a:t>
              </a:r>
              <a:endParaRPr sz="1400" dirty="0">
                <a:latin typeface="Arial"/>
                <a:ea typeface="Arial"/>
                <a:cs typeface="Arial"/>
              </a:endParaRPr>
            </a:p>
            <a:p>
              <a:pPr marL="177164" algn="l" rtl="0" eaLnBrk="0">
                <a:lnSpc>
                  <a:spcPct val="115000"/>
                </a:lnSpc>
                <a:spcBef>
                  <a:spcPts val="32"/>
                </a:spcBef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symptoms  of  depressio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n,while  38%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report</a:t>
              </a:r>
              <a:r>
                <a:rPr sz="1400" kern="0" spc="3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chronic</a:t>
              </a:r>
              <a:r>
                <a:rPr sz="1400" kern="0" spc="3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anxiety</a:t>
              </a:r>
              <a:r>
                <a:rPr sz="1400" kern="0" spc="3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disorders.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2158959" y="5073617"/>
            <a:ext cx="3778300" cy="1352603"/>
            <a:chOff x="0" y="0"/>
            <a:chExt cx="3778300" cy="1352603"/>
          </a:xfrm>
        </p:grpSpPr>
        <p:pic>
          <p:nvPicPr>
            <p:cNvPr id="62" name="picture 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778300" cy="1352603"/>
            </a:xfrm>
            <a:prstGeom prst="rect">
              <a:avLst/>
            </a:prstGeom>
          </p:spPr>
        </p:pic>
        <p:sp>
          <p:nvSpPr>
            <p:cNvPr id="64" name="textbox 64"/>
            <p:cNvSpPr/>
            <p:nvPr/>
          </p:nvSpPr>
          <p:spPr>
            <a:xfrm>
              <a:off x="-12700" y="-12700"/>
              <a:ext cx="3804284" cy="13836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09550" algn="l" rtl="0" eaLnBrk="0">
                <a:lnSpc>
                  <a:spcPct val="81000"/>
                </a:lnSpc>
                <a:spcBef>
                  <a:spcPts val="7"/>
                </a:spcBef>
                <a:tabLst/>
              </a:pPr>
              <a:r>
                <a:rPr sz="1700" b="1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Impact on Academic</a:t>
              </a:r>
              <a:r>
                <a:rPr sz="1700" b="1" kern="0" spc="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700" b="1" kern="0" spc="-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Performance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58750" algn="l" rtl="0" eaLnBrk="0">
                <a:lnSpc>
                  <a:spcPct val="109000"/>
                </a:lnSpc>
                <a:spcBef>
                  <a:spcPts val="1"/>
                </a:spcBef>
                <a:tabLst/>
              </a:pP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Students</a:t>
              </a:r>
              <a:r>
                <a:rPr sz="1400" kern="0" spc="2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with</a:t>
              </a:r>
              <a:r>
                <a:rPr sz="1400" kern="0" spc="3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untreated</a:t>
              </a:r>
              <a:r>
                <a:rPr sz="1400" kern="0" spc="3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ment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al</a:t>
              </a:r>
              <a:r>
                <a:rPr sz="1400" kern="0" spc="3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health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issues</a:t>
              </a:r>
              <a:r>
                <a:rPr sz="1400" kern="0" spc="1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are</a:t>
              </a:r>
              <a:r>
                <a:rPr sz="1400" kern="0" spc="1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.2x</a:t>
              </a:r>
              <a:r>
                <a:rPr sz="1400" kern="0" spc="2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more</a:t>
              </a:r>
              <a:r>
                <a:rPr sz="1400" kern="0" spc="20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likely</a:t>
              </a:r>
              <a:r>
                <a:rPr sz="1400" kern="0" spc="1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to</a:t>
              </a:r>
              <a:r>
                <a:rPr sz="1400" kern="0" spc="1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drop</a:t>
              </a:r>
              <a:r>
                <a:rPr sz="1400" kern="0" spc="1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out</a:t>
              </a:r>
              <a:r>
                <a:rPr sz="1400" kern="0" spc="1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or</a:t>
              </a: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show</a:t>
              </a:r>
              <a:r>
                <a:rPr sz="1400" kern="0" spc="2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declining</a:t>
              </a:r>
              <a:r>
                <a:rPr sz="1400" kern="0" spc="2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grades.</a:t>
              </a:r>
              <a:endParaRPr sz="14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6" name="textbox 66"/>
          <p:cNvSpPr/>
          <p:nvPr/>
        </p:nvSpPr>
        <p:spPr>
          <a:xfrm>
            <a:off x="1503996" y="205872"/>
            <a:ext cx="9184005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4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tabLst/>
            </a:pPr>
            <a:r>
              <a:rPr sz="3300" b="1" u="sng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Current</a:t>
            </a:r>
            <a:r>
              <a:rPr sz="3300" b="1" u="sng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u="sng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</a:t>
            </a:r>
            <a:r>
              <a:rPr sz="3300" b="1" u="sng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u="sng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</a:t>
            </a:r>
            <a:r>
              <a:rPr sz="3300" b="1" u="sng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 Crisis</a:t>
            </a:r>
            <a:r>
              <a:rPr sz="3300" b="1" u="sng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u="sng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3300" b="1" u="sng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u="sng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Indian</a:t>
            </a:r>
            <a:r>
              <a:rPr sz="3300" b="1" u="sng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u="sng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Education</a:t>
            </a:r>
            <a:endParaRPr sz="3300" u="sng" dirty="0">
              <a:latin typeface="Arial"/>
              <a:ea typeface="Arial"/>
              <a:cs typeface="Arial"/>
            </a:endParaRPr>
          </a:p>
        </p:txBody>
      </p:sp>
      <p:pic>
        <p:nvPicPr>
          <p:cNvPr id="68" name="picture 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60440" y="5143500"/>
            <a:ext cx="1346118" cy="1206527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305580" y="5143500"/>
            <a:ext cx="1327099" cy="1206527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50879" y="3346429"/>
            <a:ext cx="1098621" cy="1416039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93699" y="1873263"/>
            <a:ext cx="1257360" cy="111127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400800" y="1943077"/>
            <a:ext cx="1092159" cy="85094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502359" y="3663955"/>
            <a:ext cx="927201" cy="838184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6261059" y="1795917"/>
            <a:ext cx="1407794" cy="370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717"/>
              </a:lnSpc>
              <a:tabLst/>
            </a:pPr>
            <a:r>
              <a:rPr sz="2600" kern="0" spc="0" baseline="-1111" dirty="0">
                <a:solidFill>
                  <a:srgbClr val="2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42%</a:t>
            </a:r>
            <a:r>
              <a:rPr sz="1600" kern="0" spc="10" dirty="0">
                <a:solidFill>
                  <a:srgbClr val="2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2600" kern="0" spc="0" baseline="12912" dirty="0">
                <a:solidFill>
                  <a:srgbClr val="80D030">
                    <a:alpha val="100000"/>
                  </a:srgbClr>
                </a:solidFill>
                <a:latin typeface="Arial"/>
                <a:ea typeface="Arial"/>
                <a:cs typeface="Arial"/>
              </a:rPr>
              <a:t>38%</a:t>
            </a:r>
            <a:endParaRPr sz="2600" baseline="12912" dirty="0">
              <a:latin typeface="Arial"/>
              <a:ea typeface="Arial"/>
              <a:cs typeface="Arial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1028740" y="1694967"/>
            <a:ext cx="422275" cy="236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1700" b="1" kern="0" spc="-110" dirty="0">
                <a:solidFill>
                  <a:srgbClr val="20D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78</a:t>
            </a:r>
            <a:r>
              <a:rPr sz="1700" b="1" kern="0" spc="-80" dirty="0">
                <a:solidFill>
                  <a:srgbClr val="20D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1549338" y="1331696"/>
            <a:ext cx="4530090" cy="51060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3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 Academic</a:t>
            </a:r>
            <a:r>
              <a:rPr sz="1600" b="1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Pressure: Students face</a:t>
            </a:r>
            <a:endParaRPr sz="1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6000"/>
              </a:lnSpc>
              <a:spcBef>
                <a:spcPts val="13"/>
              </a:spcBef>
              <a:tabLst/>
            </a:pPr>
            <a:r>
              <a:rPr sz="16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overwhelming</a:t>
            </a:r>
            <a:r>
              <a:rPr sz="16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workloads,leading</a:t>
            </a:r>
            <a:r>
              <a:rPr sz="16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6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nxiety</a:t>
            </a:r>
            <a:r>
              <a:rPr sz="16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burnout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affecting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68%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college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students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491"/>
              </a:spcBef>
              <a:tabLst/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Limited</a:t>
            </a:r>
            <a:r>
              <a:rPr sz="16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</a:t>
            </a:r>
            <a:r>
              <a:rPr sz="16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Health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Resources</a:t>
            </a:r>
            <a:r>
              <a:rPr sz="16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Average        counselor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ratio</a:t>
            </a:r>
            <a:r>
              <a:rPr sz="16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6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1:1,600</a:t>
            </a:r>
            <a:r>
              <a:rPr sz="1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far             exceeding</a:t>
            </a:r>
            <a:r>
              <a:rPr sz="16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the</a:t>
            </a:r>
            <a:r>
              <a:rPr sz="16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recommended</a:t>
            </a:r>
            <a:r>
              <a:rPr sz="16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1:500</a:t>
            </a:r>
            <a:r>
              <a:rPr sz="16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ratio</a:t>
            </a:r>
            <a:r>
              <a:rPr sz="16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3000"/>
              </a:lnSpc>
              <a:spcBef>
                <a:spcPts val="484"/>
              </a:spcBef>
              <a:tabLst/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Delayed</a:t>
            </a:r>
            <a:r>
              <a:rPr sz="1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Detection</a:t>
            </a:r>
            <a:r>
              <a:rPr sz="1600" kern="0" spc="4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600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Issues</a:t>
            </a:r>
            <a:r>
              <a:rPr sz="1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</a:t>
            </a:r>
            <a:r>
              <a:rPr sz="16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health        concerns</a:t>
            </a:r>
            <a:r>
              <a:rPr sz="16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often</a:t>
            </a:r>
            <a:r>
              <a:rPr sz="16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identified</a:t>
            </a:r>
            <a:r>
              <a:rPr sz="16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2-3</a:t>
            </a:r>
            <a:r>
              <a:rPr sz="16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semesters</a:t>
            </a:r>
            <a:r>
              <a:rPr sz="16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after     </a:t>
            </a:r>
            <a:r>
              <a:rPr sz="16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onset,impacting</a:t>
            </a:r>
            <a:r>
              <a:rPr sz="16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academ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ic</a:t>
            </a:r>
            <a:r>
              <a:rPr sz="16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performance.</a:t>
            </a: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spcBef>
                <a:spcPts val="485"/>
              </a:spcBef>
              <a:tabLst/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Stigma</a:t>
            </a:r>
            <a:r>
              <a:rPr sz="16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Around</a:t>
            </a:r>
            <a:r>
              <a:rPr sz="16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Seeking</a:t>
            </a:r>
            <a:r>
              <a:rPr sz="1600" kern="0" spc="4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Help</a:t>
            </a:r>
            <a:r>
              <a:rPr sz="16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Only</a:t>
            </a:r>
            <a:r>
              <a:rPr sz="16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25%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       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students</a:t>
            </a:r>
            <a:r>
              <a:rPr sz="16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experiencing</a:t>
            </a:r>
            <a:r>
              <a:rPr sz="16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</a:t>
            </a:r>
            <a:r>
              <a:rPr sz="16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health</a:t>
            </a:r>
            <a:r>
              <a:rPr sz="16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issues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16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actively</a:t>
            </a:r>
            <a:r>
              <a:rPr sz="16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see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</a:t>
            </a:r>
            <a:r>
              <a:rPr sz="16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professional</a:t>
            </a:r>
            <a:r>
              <a:rPr sz="16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assistance.</a:t>
            </a: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indent="44450" algn="l" rtl="0" eaLnBrk="0">
              <a:lnSpc>
                <a:spcPct val="116000"/>
              </a:lnSpc>
              <a:spcBef>
                <a:spcPts val="2"/>
              </a:spcBef>
              <a:tabLst/>
            </a:pP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Impact</a:t>
            </a:r>
            <a:r>
              <a:rPr sz="16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r>
              <a:rPr sz="16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Academic</a:t>
            </a:r>
            <a:r>
              <a:rPr sz="16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Performance:</a:t>
            </a:r>
            <a:r>
              <a:rPr sz="16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Students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with</a:t>
            </a:r>
            <a:r>
              <a:rPr sz="16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untreated</a:t>
            </a:r>
            <a:r>
              <a:rPr sz="16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</a:t>
            </a:r>
            <a:r>
              <a:rPr sz="16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health</a:t>
            </a:r>
            <a:r>
              <a:rPr sz="16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issues</a:t>
            </a:r>
            <a:r>
              <a:rPr sz="16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are</a:t>
            </a:r>
            <a:r>
              <a:rPr sz="16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2.5x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more</a:t>
            </a:r>
            <a:r>
              <a:rPr sz="16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likely</a:t>
            </a:r>
            <a:r>
              <a:rPr sz="16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6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drop</a:t>
            </a:r>
            <a:r>
              <a:rPr sz="16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</a:t>
            </a:r>
            <a:r>
              <a:rPr sz="16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1600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nderperform.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6711939" y="1504919"/>
            <a:ext cx="4892508" cy="4445012"/>
            <a:chOff x="0" y="0"/>
            <a:chExt cx="4892508" cy="4445012"/>
          </a:xfrm>
        </p:grpSpPr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552420" y="0"/>
              <a:ext cx="3860840" cy="4260875"/>
            </a:xfrm>
            <a:prstGeom prst="rect">
              <a:avLst/>
            </a:prstGeom>
          </p:spPr>
        </p:pic>
        <p:sp>
          <p:nvSpPr>
            <p:cNvPr id="90" name="textbox 90"/>
            <p:cNvSpPr/>
            <p:nvPr/>
          </p:nvSpPr>
          <p:spPr>
            <a:xfrm>
              <a:off x="-12700" y="592160"/>
              <a:ext cx="4918075" cy="38760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36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0814" algn="l" rtl="0" eaLnBrk="0">
                <a:lnSpc>
                  <a:spcPct val="83000"/>
                </a:lnSpc>
                <a:tabLst/>
              </a:pPr>
              <a:r>
                <a:rPr sz="2000" kern="0" spc="10" dirty="0">
                  <a:solidFill>
                    <a:srgbClr val="486878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Students</a:t>
              </a:r>
              <a:endParaRPr sz="2000" dirty="0">
                <a:latin typeface="Arial"/>
                <a:ea typeface="Arial"/>
                <a:cs typeface="Arial"/>
              </a:endParaRPr>
            </a:p>
            <a:p>
              <a:pPr marL="189864" algn="l" rtl="0" eaLnBrk="0">
                <a:lnSpc>
                  <a:spcPct val="83000"/>
                </a:lnSpc>
                <a:spcBef>
                  <a:spcPts val="759"/>
                </a:spcBef>
                <a:tabLst/>
              </a:pPr>
              <a:r>
                <a:rPr sz="2000" b="1" kern="0" spc="20" dirty="0">
                  <a:solidFill>
                    <a:srgbClr val="28587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Affected</a:t>
              </a:r>
              <a:endParaRPr sz="2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2000"/>
                </a:lnSpc>
                <a:spcBef>
                  <a:spcPts val="1661"/>
                </a:spcBef>
                <a:tabLst/>
              </a:pPr>
              <a:r>
                <a:rPr sz="2000" b="1" kern="0" spc="-40" dirty="0">
                  <a:solidFill>
                    <a:srgbClr val="E0E09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Dropout</a:t>
              </a:r>
              <a:endParaRPr sz="2000" dirty="0">
                <a:latin typeface="Arial"/>
                <a:ea typeface="Arial"/>
                <a:cs typeface="Arial"/>
              </a:endParaRPr>
            </a:p>
            <a:p>
              <a:pPr marL="4184650" algn="l" rtl="0" eaLnBrk="0">
                <a:lnSpc>
                  <a:spcPct val="82000"/>
                </a:lnSpc>
                <a:spcBef>
                  <a:spcPts val="753"/>
                </a:spcBef>
                <a:tabLst/>
              </a:pPr>
              <a:r>
                <a:rPr sz="2000" b="1" kern="0" spc="-70" dirty="0">
                  <a:solidFill>
                    <a:srgbClr val="A08048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Risk</a:t>
              </a:r>
              <a:endParaRPr sz="2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4"/>
                </a:spcBef>
                <a:tabLst/>
              </a:pPr>
              <a:r>
                <a:rPr sz="2000" kern="0" spc="0" dirty="0">
                  <a:solidFill>
                    <a:srgbClr val="40786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Seek</a:t>
              </a:r>
              <a:r>
                <a:rPr sz="2000" kern="0" spc="-10" dirty="0">
                  <a:solidFill>
                    <a:srgbClr val="40786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2000" kern="0" spc="0" dirty="0">
                  <a:solidFill>
                    <a:srgbClr val="40786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Help</a:t>
              </a:r>
              <a:endParaRPr sz="20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92" name="textbox 92"/>
          <p:cNvSpPr/>
          <p:nvPr/>
        </p:nvSpPr>
        <p:spPr>
          <a:xfrm>
            <a:off x="2293936" y="217302"/>
            <a:ext cx="7604125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4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3600" b="1" i="1" u="sng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Problem Statement &amp;Critical</a:t>
            </a:r>
            <a:r>
              <a:rPr sz="3600" b="1" i="1" u="sng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i="1" u="sng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Issues</a:t>
            </a:r>
            <a:endParaRPr sz="3600" i="1" u="sng" dirty="0">
              <a:latin typeface="Arial"/>
              <a:ea typeface="Arial"/>
              <a:cs typeface="Arial"/>
            </a:endParaRPr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5939" y="4502139"/>
            <a:ext cx="762000" cy="749305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90580" y="5594344"/>
            <a:ext cx="768339" cy="736617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22279" y="3435377"/>
            <a:ext cx="749320" cy="749305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10553741" y="5690099"/>
            <a:ext cx="931544" cy="276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4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000" kern="0" spc="0" dirty="0">
                <a:solidFill>
                  <a:srgbClr val="807858">
                    <a:alpha val="100000"/>
                  </a:srgbClr>
                </a:solidFill>
                <a:latin typeface="Arial"/>
                <a:ea typeface="Arial"/>
                <a:cs typeface="Arial"/>
              </a:rPr>
              <a:t>Dropout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10776001" y="6030866"/>
            <a:ext cx="511175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000" kern="0" spc="-20" dirty="0">
                <a:solidFill>
                  <a:srgbClr val="786858">
                    <a:alpha val="100000"/>
                  </a:srgbClr>
                </a:solidFill>
                <a:latin typeface="Arial"/>
                <a:ea typeface="Arial"/>
                <a:cs typeface="Arial"/>
              </a:rPr>
              <a:t>Risk</a:t>
            </a:r>
            <a:endParaRPr sz="2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32499" y="1022322"/>
            <a:ext cx="5194401" cy="5213382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565200" y="590529"/>
            <a:ext cx="8273415" cy="2087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ctr" rtl="0" eaLnBrk="0">
              <a:lnSpc>
                <a:spcPct val="74000"/>
              </a:lnSpc>
              <a:tabLst/>
            </a:pPr>
            <a:r>
              <a:rPr sz="3900" b="1" i="1" u="sng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Why</a:t>
            </a:r>
            <a:r>
              <a:rPr sz="3900" b="1" i="1" u="sng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i="1" u="sng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</a:t>
            </a:r>
            <a:r>
              <a:rPr sz="3900" b="1" i="1" u="sng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900" b="1" i="1" u="sng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Health Int</a:t>
            </a:r>
            <a:r>
              <a:rPr sz="3900" b="1" i="1" u="sng" kern="0" spc="-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ervention</a:t>
            </a:r>
            <a:endParaRPr sz="3900" b="1" i="1" u="sng" dirty="0">
              <a:latin typeface="Arial"/>
              <a:ea typeface="Arial"/>
              <a:cs typeface="Arial"/>
            </a:endParaRPr>
          </a:p>
          <a:p>
            <a:pPr marL="31115" algn="ctr" rtl="0" eaLnBrk="0">
              <a:lnSpc>
                <a:spcPct val="77000"/>
              </a:lnSpc>
              <a:spcBef>
                <a:spcPts val="39"/>
              </a:spcBef>
              <a:tabLst/>
            </a:pPr>
            <a:r>
              <a:rPr sz="3500" b="1" i="1" u="sng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is</a:t>
            </a:r>
            <a:r>
              <a:rPr sz="3500" b="1" i="1" u="sng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b="1" i="1" u="sng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Essential</a:t>
            </a:r>
            <a:endParaRPr sz="3500" b="1" i="1" u="sng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112"/>
              </a:lnSpc>
              <a:tabLst/>
            </a:pPr>
            <a:r>
              <a:rPr sz="2400" kern="0" spc="-120" dirty="0">
                <a:solidFill>
                  <a:srgbClr val="30A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2400" kern="0" spc="-110" dirty="0">
                <a:solidFill>
                  <a:srgbClr val="30A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400" kern="0" spc="-100" dirty="0">
                <a:solidFill>
                  <a:srgbClr val="30A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2400" dirty="0">
              <a:latin typeface="Arial"/>
              <a:ea typeface="Arial"/>
              <a:cs typeface="Arial"/>
            </a:endParaRPr>
          </a:p>
          <a:p>
            <a:pPr marL="678815" algn="l" rtl="0" eaLnBrk="0">
              <a:lnSpc>
                <a:spcPts val="2090"/>
              </a:lnSpc>
              <a:spcBef>
                <a:spcPts val="472"/>
              </a:spcBef>
              <a:tabLst/>
            </a:pPr>
            <a:r>
              <a:rPr sz="16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·Academic</a:t>
            </a:r>
            <a:r>
              <a:rPr sz="1600" b="1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</a:t>
            </a:r>
            <a:r>
              <a:rPr sz="1600" b="1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Declin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e:</a:t>
            </a:r>
            <a:r>
              <a:rPr sz="1600" b="1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Students</a:t>
            </a:r>
            <a:r>
              <a:rPr sz="16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endParaRPr sz="1600" dirty="0">
              <a:latin typeface="Arial"/>
              <a:ea typeface="Arial"/>
              <a:cs typeface="Arial"/>
            </a:endParaRPr>
          </a:p>
          <a:p>
            <a:pPr marL="837564" algn="l" rtl="0" eaLnBrk="0">
              <a:lnSpc>
                <a:spcPct val="95000"/>
              </a:lnSpc>
              <a:spcBef>
                <a:spcPts val="18"/>
              </a:spcBef>
              <a:tabLst/>
            </a:pP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untreated mental health issues</a:t>
            </a:r>
            <a:r>
              <a:rPr sz="16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show</a:t>
            </a:r>
            <a:r>
              <a:rPr sz="16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0.4-0.5</a:t>
            </a:r>
            <a:r>
              <a:rPr sz="16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GPA</a:t>
            </a:r>
            <a:r>
              <a:rPr sz="16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decline</a:t>
            </a:r>
            <a:endParaRPr sz="1600" dirty="0">
              <a:latin typeface="Arial"/>
              <a:ea typeface="Arial"/>
              <a:cs typeface="Arial"/>
            </a:endParaRPr>
          </a:p>
          <a:p>
            <a:pPr marL="837564" algn="l" rtl="0" eaLnBrk="0">
              <a:lnSpc>
                <a:spcPts val="1979"/>
              </a:lnSpc>
              <a:tabLst/>
            </a:pP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6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30%lower</a:t>
            </a:r>
            <a:r>
              <a:rPr sz="16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graduation</a:t>
            </a:r>
            <a:r>
              <a:rPr sz="1600" kern="0" spc="3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tes.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1231859" y="4794636"/>
            <a:ext cx="5132704" cy="1640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0179" indent="-158114" algn="l" rtl="0" eaLnBrk="0">
              <a:lnSpc>
                <a:spcPct val="115000"/>
              </a:lnSpc>
              <a:tabLst/>
            </a:pP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16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Economic</a:t>
            </a:r>
            <a:r>
              <a:rPr sz="1600" b="1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Impact: 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Early intervention saves 33.5</a:t>
            </a:r>
            <a:r>
              <a:rPr sz="16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lakhs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</a:t>
            </a:r>
            <a:r>
              <a:rPr sz="16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</a:t>
            </a:r>
            <a:r>
              <a:rPr sz="16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6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treatment</a:t>
            </a:r>
            <a:r>
              <a:rPr sz="16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osts</a:t>
            </a:r>
            <a:r>
              <a:rPr sz="16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6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lost</a:t>
            </a:r>
            <a:r>
              <a:rPr sz="16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productivity.</a:t>
            </a: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70179" indent="-158114" algn="l" rtl="0" eaLnBrk="0">
              <a:lnSpc>
                <a:spcPct val="119000"/>
              </a:lnSpc>
              <a:spcBef>
                <a:spcPts val="6"/>
              </a:spcBef>
              <a:tabLst/>
            </a:pP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 Trend Analysis:</a:t>
            </a:r>
            <a:r>
              <a:rPr sz="1600" b="1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Universities</a:t>
            </a:r>
            <a:r>
              <a:rPr sz="16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6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robust</a:t>
            </a:r>
            <a:r>
              <a:rPr sz="16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health</a:t>
            </a:r>
            <a:r>
              <a:rPr sz="1600" kern="0" spc="3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programs</a:t>
            </a:r>
            <a:r>
              <a:rPr sz="16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report</a:t>
            </a:r>
            <a:r>
              <a:rPr sz="16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27%better</a:t>
            </a:r>
            <a:r>
              <a:rPr sz="16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</a:t>
            </a:r>
            <a:r>
              <a:rPr sz="16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retention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600" kern="0" spc="3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satisfaction.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1231859" y="2838871"/>
            <a:ext cx="4859654" cy="804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3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0179" indent="-158114" algn="l" rtl="0" eaLnBrk="0">
              <a:lnSpc>
                <a:spcPct val="107000"/>
              </a:lnSpc>
              <a:tabLst/>
            </a:pPr>
            <a:r>
              <a:rPr sz="1600" b="1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·Increasin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r>
              <a:rPr sz="1600" b="1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Dropout</a:t>
            </a:r>
            <a:r>
              <a:rPr sz="1600" b="1" kern="0" spc="2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Rates: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</a:t>
            </a:r>
            <a:r>
              <a:rPr sz="16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health</a:t>
            </a:r>
            <a:r>
              <a:rPr sz="16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problems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account</a:t>
            </a:r>
            <a:r>
              <a:rPr sz="16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</a:t>
            </a:r>
            <a:r>
              <a:rPr sz="16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64%o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</a:t>
            </a:r>
            <a:r>
              <a:rPr sz="1600" kern="0" spc="3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college</a:t>
            </a:r>
            <a:r>
              <a:rPr sz="16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dropouts,costing</a:t>
            </a:r>
            <a:endParaRPr sz="1600" dirty="0">
              <a:latin typeface="Arial"/>
              <a:ea typeface="Arial"/>
              <a:cs typeface="Arial"/>
            </a:endParaRPr>
          </a:p>
          <a:p>
            <a:pPr marL="170814" algn="l" rtl="0" eaLnBrk="0">
              <a:lnSpc>
                <a:spcPts val="2040"/>
              </a:lnSpc>
              <a:tabLst/>
            </a:pP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institutions</a:t>
            </a:r>
            <a:r>
              <a:rPr sz="16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significant</a:t>
            </a:r>
            <a:r>
              <a:rPr sz="16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revenue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1231859" y="3816753"/>
            <a:ext cx="4770754" cy="821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9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0179" indent="-158114" algn="l" rtl="0" eaLnBrk="0">
              <a:lnSpc>
                <a:spcPct val="109000"/>
              </a:lnSpc>
              <a:tabLst/>
            </a:pPr>
            <a:r>
              <a:rPr sz="16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·Regulatory  Compliance: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UGC and</a:t>
            </a:r>
            <a:r>
              <a:rPr sz="16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NAAC mandate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comprehensive student welfare ser</a:t>
            </a:r>
            <a:r>
              <a:rPr sz="16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vices including   mental  health  su</a:t>
            </a:r>
            <a:r>
              <a:rPr sz="16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pport.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7385040" y="3721374"/>
            <a:ext cx="1002664" cy="576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1000"/>
              </a:lnSpc>
              <a:tabLst/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Economic Saving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82000"/>
              </a:lnSpc>
              <a:spcBef>
                <a:spcPts val="278"/>
              </a:spcBef>
              <a:tabLst/>
            </a:pP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</a:t>
            </a:r>
            <a:r>
              <a:rPr sz="10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0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Student:</a:t>
            </a: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500" b="1" kern="0" spc="-40" dirty="0">
                <a:solidFill>
                  <a:srgbClr val="30D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R3.5</a:t>
            </a:r>
            <a:r>
              <a:rPr sz="1500" b="1" kern="0" spc="170" dirty="0">
                <a:solidFill>
                  <a:srgbClr val="30D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kern="0" spc="-40" dirty="0">
                <a:solidFill>
                  <a:srgbClr val="30D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Lakhs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801380" y="647669"/>
            <a:ext cx="584118" cy="628672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84240" y="5594344"/>
            <a:ext cx="533400" cy="4952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05400" y="1270033"/>
            <a:ext cx="2019361" cy="3536944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2469247" y="278766"/>
            <a:ext cx="7237094" cy="510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3900" b="1" i="1" u="sng" kern="0" spc="-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AI-</a:t>
            </a:r>
            <a:r>
              <a:rPr sz="3900" b="1" i="1" u="sng" kern="0" spc="-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Powered Solution Ar</a:t>
            </a:r>
            <a:r>
              <a:rPr sz="3900" b="1" i="1" u="sng" kern="0" spc="-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chitectur</a:t>
            </a:r>
            <a:r>
              <a:rPr sz="3900" b="1" i="1" u="sng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3900" i="1" u="sng" dirty="0">
              <a:latin typeface="Arial"/>
              <a:ea typeface="Arial"/>
              <a:cs typeface="Arial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7397718" y="4988519"/>
            <a:ext cx="1869439" cy="1162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750" algn="l" rtl="0" eaLnBrk="0">
              <a:lnSpc>
                <a:spcPct val="83000"/>
              </a:lnSpc>
              <a:tabLst/>
            </a:pPr>
            <a:r>
              <a:rPr sz="1400" b="1" kern="0" spc="-40" dirty="0">
                <a:solidFill>
                  <a:srgbClr val="10587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Personalized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178"/>
              </a:spcBef>
              <a:tabLst/>
            </a:pPr>
            <a:r>
              <a:rPr sz="1400" b="1" kern="0" spc="-20" dirty="0">
                <a:solidFill>
                  <a:srgbClr val="5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Intervention</a:t>
            </a:r>
            <a:r>
              <a:rPr sz="1400" b="1" kern="0" spc="80" dirty="0">
                <a:solidFill>
                  <a:srgbClr val="5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20" dirty="0">
                <a:solidFill>
                  <a:srgbClr val="5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Path</a:t>
            </a:r>
            <a:r>
              <a:rPr sz="1400" b="1" kern="0" spc="-30" dirty="0">
                <a:solidFill>
                  <a:srgbClr val="507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ways</a:t>
            </a:r>
            <a:endParaRPr sz="1400" dirty="0">
              <a:latin typeface="Arial"/>
              <a:ea typeface="Arial"/>
              <a:cs typeface="Arial"/>
            </a:endParaRPr>
          </a:p>
          <a:p>
            <a:pPr marL="266700" algn="l" rtl="0" eaLnBrk="0">
              <a:lnSpc>
                <a:spcPct val="98000"/>
              </a:lnSpc>
              <a:spcBef>
                <a:spcPts val="657"/>
              </a:spcBef>
              <a:tabLst/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Al-driven</a:t>
            </a:r>
            <a:r>
              <a:rPr sz="11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cu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stomized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0650" algn="l" rtl="0" eaLnBrk="0">
              <a:lnSpc>
                <a:spcPts val="1342"/>
              </a:lnSpc>
              <a:tabLst/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support</a:t>
            </a:r>
            <a:r>
              <a:rPr sz="11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commendations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ts val="1340"/>
              </a:lnSpc>
              <a:spcBef>
                <a:spcPts val="11"/>
              </a:spcBef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based on</a:t>
            </a:r>
            <a:r>
              <a:rPr sz="11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indivi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dual stress</a:t>
            </a:r>
            <a:endParaRPr sz="1100" dirty="0">
              <a:latin typeface="Arial"/>
              <a:ea typeface="Arial"/>
              <a:cs typeface="Arial"/>
            </a:endParaRPr>
          </a:p>
          <a:p>
            <a:pPr marL="329565" algn="l" rtl="0" eaLnBrk="0">
              <a:lnSpc>
                <a:spcPts val="1340"/>
              </a:lnSpc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profiles</a:t>
            </a:r>
            <a:r>
              <a:rPr sz="11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1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histo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ry.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742960" y="4952057"/>
            <a:ext cx="1784350" cy="1204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9715" algn="l" rtl="0" eaLnBrk="0">
              <a:lnSpc>
                <a:spcPct val="83000"/>
              </a:lnSpc>
              <a:tabLst/>
            </a:pPr>
            <a:r>
              <a:rPr sz="1400" b="1" kern="0" spc="-40" dirty="0">
                <a:solidFill>
                  <a:srgbClr val="285868">
                    <a:alpha val="100000"/>
                  </a:srgbClr>
                </a:solidFill>
                <a:latin typeface="Arial"/>
                <a:ea typeface="Arial"/>
                <a:cs typeface="Arial"/>
              </a:rPr>
              <a:t>Early</a:t>
            </a:r>
            <a:r>
              <a:rPr sz="1400" b="1" kern="0" spc="110" dirty="0">
                <a:solidFill>
                  <a:srgbClr val="28586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40" dirty="0">
                <a:solidFill>
                  <a:srgbClr val="285868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Detection</a:t>
            </a:r>
            <a:endParaRPr sz="1400" dirty="0">
              <a:latin typeface="Arial"/>
              <a:ea typeface="Arial"/>
              <a:cs typeface="Arial"/>
            </a:endParaRPr>
          </a:p>
          <a:p>
            <a:pPr marL="424815" algn="l" rtl="0" eaLnBrk="0">
              <a:lnSpc>
                <a:spcPct val="83000"/>
              </a:lnSpc>
              <a:spcBef>
                <a:spcPts val="556"/>
              </a:spcBef>
              <a:tabLst/>
            </a:pPr>
            <a:r>
              <a:rPr sz="1400" b="1" kern="0" spc="-20" dirty="0">
                <a:solidFill>
                  <a:srgbClr val="085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Algorithms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13664" algn="l" rtl="0" eaLnBrk="0">
              <a:lnSpc>
                <a:spcPts val="1399"/>
              </a:lnSpc>
              <a:spcBef>
                <a:spcPts val="335"/>
              </a:spcBef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Machine learning</a:t>
            </a:r>
            <a:r>
              <a:rPr sz="11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models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ct val="100000"/>
              </a:lnSpc>
              <a:spcBef>
                <a:spcPts val="11"/>
              </a:spcBef>
              <a:tabLst/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trained to</a:t>
            </a:r>
            <a:r>
              <a:rPr sz="11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entify</a:t>
            </a:r>
            <a:r>
              <a:rPr sz="11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stress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99"/>
              </a:lnSpc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patterns</a:t>
            </a:r>
            <a:r>
              <a:rPr sz="11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from</a:t>
            </a:r>
            <a:r>
              <a:rPr sz="11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biometric</a:t>
            </a:r>
            <a:r>
              <a:rPr sz="11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endParaRPr sz="11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ts val="1468"/>
              </a:lnSpc>
              <a:tabLst/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 94%accur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acy.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5289600" y="4982209"/>
            <a:ext cx="1596389" cy="1341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7314" algn="l" rtl="0" eaLnBrk="0">
              <a:lnSpc>
                <a:spcPct val="83000"/>
              </a:lnSpc>
              <a:tabLst/>
            </a:pPr>
            <a:r>
              <a:rPr sz="1400" b="1" kern="0" spc="-10" dirty="0">
                <a:solidFill>
                  <a:srgbClr val="90C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Automated Alert</a:t>
            </a:r>
            <a:endParaRPr sz="1400" dirty="0">
              <a:latin typeface="Arial"/>
              <a:ea typeface="Arial"/>
              <a:cs typeface="Arial"/>
            </a:endParaRPr>
          </a:p>
          <a:p>
            <a:pPr marL="348615" algn="l" rtl="0" eaLnBrk="0">
              <a:lnSpc>
                <a:spcPct val="83000"/>
              </a:lnSpc>
              <a:spcBef>
                <a:spcPts val="356"/>
              </a:spcBef>
              <a:tabLst/>
            </a:pPr>
            <a:r>
              <a:rPr sz="1400" b="1" kern="0" spc="-40" dirty="0">
                <a:solidFill>
                  <a:srgbClr val="70B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Mechanism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45414" algn="l" rtl="0" eaLnBrk="0">
              <a:lnSpc>
                <a:spcPts val="1340"/>
              </a:lnSpc>
              <a:spcBef>
                <a:spcPts val="475"/>
              </a:spcBef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Real-time</a:t>
            </a:r>
            <a:r>
              <a:rPr sz="1100" kern="0" spc="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notification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5"/>
              </a:spcBef>
              <a:tabLst/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 connecting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at-risk</a:t>
            </a:r>
            <a:endParaRPr sz="11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ts val="1434"/>
              </a:lnSpc>
              <a:tabLst/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students with cou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nselors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65100" algn="l" rtl="0" eaLnBrk="0">
              <a:lnSpc>
                <a:spcPct val="98000"/>
              </a:lnSpc>
              <a:spcBef>
                <a:spcPts val="7"/>
              </a:spcBef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within</a:t>
            </a:r>
            <a:r>
              <a:rPr sz="11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1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mi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nutes</a:t>
            </a:r>
            <a:r>
              <a:rPr sz="11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endParaRPr sz="1100" dirty="0">
              <a:latin typeface="Arial"/>
              <a:ea typeface="Arial"/>
              <a:cs typeface="Arial"/>
            </a:endParaRPr>
          </a:p>
          <a:p>
            <a:pPr marL="501015" algn="l" rtl="0" eaLnBrk="0">
              <a:lnSpc>
                <a:spcPts val="1349"/>
              </a:lnSpc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detection.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3073461" y="4971122"/>
            <a:ext cx="1548130" cy="1350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115" algn="l" rtl="0" eaLnBrk="0">
              <a:lnSpc>
                <a:spcPct val="83000"/>
              </a:lnSpc>
              <a:tabLst/>
            </a:pPr>
            <a:r>
              <a:rPr sz="1400" b="1" kern="0" spc="-30" dirty="0">
                <a:solidFill>
                  <a:srgbClr val="407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Anonymous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0014" algn="l" rtl="0" eaLnBrk="0">
              <a:lnSpc>
                <a:spcPct val="84000"/>
              </a:lnSpc>
              <a:spcBef>
                <a:spcPts val="289"/>
              </a:spcBef>
              <a:tabLst/>
            </a:pPr>
            <a:r>
              <a:rPr sz="1400" b="1" kern="0" spc="-30" dirty="0">
                <a:solidFill>
                  <a:srgbClr val="80D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Support System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30"/>
              </a:lnSpc>
              <a:spcBef>
                <a:spcPts val="436"/>
              </a:spcBef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Secure</a:t>
            </a:r>
            <a:r>
              <a:rPr sz="11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platform allowing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0014" algn="l" rtl="0" eaLnBrk="0">
              <a:lnSpc>
                <a:spcPts val="1375"/>
              </a:lnSpc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students to seek</a:t>
            </a:r>
            <a:r>
              <a:rPr sz="11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help</a:t>
            </a:r>
            <a:endParaRPr sz="1100" dirty="0">
              <a:latin typeface="Arial"/>
              <a:ea typeface="Arial"/>
              <a:cs typeface="Arial"/>
            </a:endParaRPr>
          </a:p>
          <a:p>
            <a:pPr marL="247015" algn="l" rtl="0" eaLnBrk="0">
              <a:lnSpc>
                <a:spcPts val="1369"/>
              </a:lnSpc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without  revealing</a:t>
            </a:r>
            <a:endParaRPr sz="1100" dirty="0">
              <a:latin typeface="Arial"/>
              <a:ea typeface="Arial"/>
              <a:cs typeface="Arial"/>
            </a:endParaRPr>
          </a:p>
          <a:p>
            <a:pPr marL="202564" algn="l" rtl="0" eaLnBrk="0">
              <a:lnSpc>
                <a:spcPct val="100000"/>
              </a:lnSpc>
              <a:spcBef>
                <a:spcPts val="5"/>
              </a:spcBef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identity,increasing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0014" algn="l" rtl="0" eaLnBrk="0">
              <a:lnSpc>
                <a:spcPts val="1399"/>
              </a:lnSpc>
              <a:tabLst/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engagement by</a:t>
            </a:r>
            <a:r>
              <a:rPr sz="11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78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%.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9728220" y="4964813"/>
            <a:ext cx="1680210" cy="1187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9565" algn="l" rtl="0" eaLnBrk="0">
              <a:lnSpc>
                <a:spcPct val="83000"/>
              </a:lnSpc>
              <a:tabLst/>
            </a:pPr>
            <a:r>
              <a:rPr sz="1400" b="1" kern="0" spc="-40" dirty="0">
                <a:solidFill>
                  <a:srgbClr val="306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400" b="1" kern="0" spc="150" dirty="0">
                <a:solidFill>
                  <a:srgbClr val="306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40" dirty="0">
                <a:solidFill>
                  <a:srgbClr val="306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Privacy</a:t>
            </a:r>
            <a:endParaRPr sz="1400" dirty="0">
              <a:latin typeface="Arial"/>
              <a:ea typeface="Arial"/>
              <a:cs typeface="Arial"/>
            </a:endParaRPr>
          </a:p>
          <a:p>
            <a:pPr marL="393700" algn="l" rtl="0" eaLnBrk="0">
              <a:lnSpc>
                <a:spcPct val="83000"/>
              </a:lnSpc>
              <a:spcBef>
                <a:spcPts val="434"/>
              </a:spcBef>
              <a:tabLst/>
            </a:pPr>
            <a:r>
              <a:rPr sz="1400" b="1" kern="0" spc="-40" dirty="0">
                <a:solidFill>
                  <a:srgbClr val="406878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Framework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99"/>
              </a:lnSpc>
              <a:spcBef>
                <a:spcPts val="357"/>
              </a:spcBef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End-to-end</a:t>
            </a:r>
            <a:r>
              <a:rPr sz="11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encryption</a:t>
            </a:r>
            <a:r>
              <a:rPr sz="11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1100" dirty="0">
              <a:latin typeface="Arial"/>
              <a:ea typeface="Arial"/>
              <a:cs typeface="Arial"/>
            </a:endParaRPr>
          </a:p>
          <a:p>
            <a:pPr marL="76200" algn="l" rtl="0" eaLnBrk="0">
              <a:lnSpc>
                <a:spcPct val="100000"/>
              </a:lnSpc>
              <a:spcBef>
                <a:spcPts val="5"/>
              </a:spcBef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anonymization</a:t>
            </a:r>
            <a:r>
              <a:rPr sz="11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protocols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ts val="1380"/>
              </a:lnSpc>
              <a:tabLst/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ensuring complete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</a:t>
            </a:r>
            <a:endParaRPr sz="1100" dirty="0">
              <a:latin typeface="Arial"/>
              <a:ea typeface="Arial"/>
              <a:cs typeface="Arial"/>
            </a:endParaRPr>
          </a:p>
          <a:p>
            <a:pPr marL="126364" algn="l" rtl="0" eaLnBrk="0">
              <a:lnSpc>
                <a:spcPts val="1455"/>
              </a:lnSpc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information</a:t>
            </a:r>
            <a:r>
              <a:rPr sz="11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protection.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pic>
        <p:nvPicPr>
          <p:cNvPr id="138" name="picture 1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52580" y="3359117"/>
            <a:ext cx="1346118" cy="1371600"/>
          </a:xfrm>
          <a:prstGeom prst="rect">
            <a:avLst/>
          </a:prstGeom>
        </p:spPr>
      </p:pic>
      <p:pic>
        <p:nvPicPr>
          <p:cNvPr id="140" name="picture 1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94079" y="3340120"/>
            <a:ext cx="1327220" cy="1295407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077200" y="3429000"/>
            <a:ext cx="1289060" cy="1219215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318699" y="3517879"/>
            <a:ext cx="1244681" cy="1136644"/>
          </a:xfrm>
          <a:prstGeom prst="rect">
            <a:avLst/>
          </a:prstGeom>
        </p:spPr>
      </p:pic>
      <p:sp>
        <p:nvSpPr>
          <p:cNvPr id="146" name="textbox 146"/>
          <p:cNvSpPr/>
          <p:nvPr/>
        </p:nvSpPr>
        <p:spPr>
          <a:xfrm>
            <a:off x="2628940" y="1936024"/>
            <a:ext cx="1570989" cy="588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400" b="1" kern="0" spc="-30" dirty="0">
                <a:solidFill>
                  <a:srgbClr val="7898B8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</a:t>
            </a:r>
            <a:r>
              <a:rPr sz="1400" b="1" kern="0" spc="110" dirty="0">
                <a:solidFill>
                  <a:srgbClr val="7898B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30" dirty="0">
                <a:solidFill>
                  <a:srgbClr val="7898B8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400" b="1" kern="0" spc="90" dirty="0">
                <a:solidFill>
                  <a:srgbClr val="7898B8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b="1" kern="0" spc="-30" dirty="0">
                <a:solidFill>
                  <a:srgbClr val="7898B8">
                    <a:alpha val="100000"/>
                  </a:srgbClr>
                </a:solidFill>
                <a:latin typeface="Arial"/>
                <a:ea typeface="Arial"/>
                <a:cs typeface="Arial"/>
              </a:rPr>
              <a:t>Input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65100" algn="l" rtl="0" eaLnBrk="0">
              <a:lnSpc>
                <a:spcPts val="1474"/>
              </a:lnSpc>
              <a:spcBef>
                <a:spcPts val="68"/>
              </a:spcBef>
              <a:tabLst/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(biometrics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,surveys,</a:t>
            </a:r>
            <a:endParaRPr sz="1100" dirty="0">
              <a:latin typeface="Arial"/>
              <a:ea typeface="Arial"/>
              <a:cs typeface="Arial"/>
            </a:endParaRPr>
          </a:p>
          <a:p>
            <a:pPr marL="412115" algn="l" rtl="0" eaLnBrk="0">
              <a:lnSpc>
                <a:spcPts val="1474"/>
              </a:lnSpc>
              <a:tabLst/>
            </a:pP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activity</a:t>
            </a:r>
            <a:r>
              <a:rPr sz="11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logs)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096561" y="1346225"/>
            <a:ext cx="609600" cy="673043"/>
          </a:xfrm>
          <a:prstGeom prst="rect">
            <a:avLst/>
          </a:prstGeom>
        </p:spPr>
      </p:pic>
      <p:pic>
        <p:nvPicPr>
          <p:cNvPr id="150" name="picture 1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301739" y="1885950"/>
            <a:ext cx="520720" cy="577855"/>
          </a:xfrm>
          <a:prstGeom prst="rect">
            <a:avLst/>
          </a:prstGeom>
        </p:spPr>
      </p:pic>
      <p:pic>
        <p:nvPicPr>
          <p:cNvPr id="152" name="picture 1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518440" y="4356132"/>
            <a:ext cx="520720" cy="469841"/>
          </a:xfrm>
          <a:prstGeom prst="rect">
            <a:avLst/>
          </a:prstGeom>
        </p:spPr>
      </p:pic>
      <p:pic>
        <p:nvPicPr>
          <p:cNvPr id="154" name="picture 1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035320" y="4330689"/>
            <a:ext cx="469879" cy="482597"/>
          </a:xfrm>
          <a:prstGeom prst="rect">
            <a:avLst/>
          </a:prstGeom>
        </p:spPr>
      </p:pic>
      <p:pic>
        <p:nvPicPr>
          <p:cNvPr id="156" name="picture 1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740919" y="4343377"/>
            <a:ext cx="488899" cy="450844"/>
          </a:xfrm>
          <a:prstGeom prst="rect">
            <a:avLst/>
          </a:prstGeom>
        </p:spPr>
      </p:pic>
      <p:pic>
        <p:nvPicPr>
          <p:cNvPr id="158" name="picture 15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81019" y="4349755"/>
            <a:ext cx="501700" cy="438157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769339" y="1905015"/>
            <a:ext cx="292120" cy="2793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4" name="textbox 164"/>
          <p:cNvSpPr/>
          <p:nvPr/>
        </p:nvSpPr>
        <p:spPr>
          <a:xfrm>
            <a:off x="3454460" y="4492439"/>
            <a:ext cx="2475864" cy="1468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76"/>
              </a:lnSpc>
              <a:tabLst/>
            </a:pPr>
            <a:r>
              <a:rPr sz="17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Stress</a:t>
            </a:r>
            <a:r>
              <a:rPr sz="1700" b="1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49"/>
              </a:lnSpc>
              <a:tabLst/>
            </a:pPr>
            <a:r>
              <a:rPr sz="17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Monitoring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61"/>
              </a:lnSpc>
              <a:spcBef>
                <a:spcPts val="728"/>
              </a:spcBef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Biometric data</a:t>
            </a:r>
            <a:r>
              <a:rPr sz="13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processing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2000"/>
              </a:lnSpc>
              <a:spcBef>
                <a:spcPts val="8"/>
              </a:spcBef>
              <a:tabLst/>
            </a:pP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detecting su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btle stress</a:t>
            </a:r>
            <a:r>
              <a:rPr sz="13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indicators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through</a:t>
            </a:r>
            <a:r>
              <a:rPr sz="13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voice</a:t>
            </a:r>
            <a:r>
              <a:rPr sz="13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pattern</a:t>
            </a:r>
            <a:r>
              <a:rPr sz="13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3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micro-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expression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analysis.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5638779" y="1872678"/>
            <a:ext cx="2169160" cy="1664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1700" b="1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Academic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0"/>
              </a:spcBef>
              <a:tabLst/>
            </a:pPr>
            <a:r>
              <a:rPr sz="1700" b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 A</a:t>
            </a:r>
            <a:r>
              <a:rPr sz="1700" b="1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nalytics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89"/>
              </a:lnSpc>
              <a:spcBef>
                <a:spcPts val="1385"/>
              </a:spcBef>
              <a:tabLst/>
            </a:pP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driven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assessment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6000"/>
              </a:lnSpc>
              <a:spcBef>
                <a:spcPts val="7"/>
              </a:spcBef>
              <a:tabLst/>
            </a:pP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</a:t>
            </a:r>
            <a:r>
              <a:rPr sz="13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scores,p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articipation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metrics,and</a:t>
            </a:r>
            <a:r>
              <a:rPr sz="13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ng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7000"/>
              </a:lnSpc>
              <a:spcBef>
                <a:spcPts val="311"/>
              </a:spcBef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trajectory</a:t>
            </a:r>
            <a:r>
              <a:rPr sz="1300" kern="0" spc="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across</a:t>
            </a:r>
            <a:r>
              <a:rPr sz="1300" kern="0" spc="1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300" kern="0" spc="-10" dirty="0">
                <a:solidFill>
                  <a:srgbClr val="40D0D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15+</a:t>
            </a:r>
            <a:endParaRPr sz="1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ts val="1850"/>
              </a:lnSpc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parameter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s.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2349499" y="209568"/>
            <a:ext cx="7493000" cy="441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3300" b="1" i="1" u="sng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System</a:t>
            </a:r>
            <a:r>
              <a:rPr sz="3300" b="1" i="1" u="sng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i="1" u="sng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Functionality &amp;Data</a:t>
            </a:r>
            <a:r>
              <a:rPr sz="3300" b="1" i="1" u="sng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300" b="1" i="1" u="sng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Processing</a:t>
            </a:r>
            <a:endParaRPr sz="3300" i="1" u="sng" dirty="0">
              <a:latin typeface="Arial"/>
              <a:ea typeface="Arial"/>
              <a:cs typeface="Arial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7740679" y="4492655"/>
            <a:ext cx="2388870" cy="1240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75"/>
              </a:lnSpc>
              <a:tabLst/>
            </a:pP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Cross-referenced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99"/>
              </a:lnSpc>
              <a:tabLst/>
            </a:pP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700" b="1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Processing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71"/>
              </a:lnSpc>
              <a:spcBef>
                <a:spcPts val="877"/>
              </a:spcBef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Multi-source  data  integration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6000"/>
              </a:lnSpc>
              <a:spcBef>
                <a:spcPts val="32"/>
              </a:spcBef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creating</a:t>
            </a:r>
            <a:r>
              <a:rPr sz="13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comprehensive</a:t>
            </a:r>
            <a:r>
              <a:rPr sz="13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profiles updated every</a:t>
            </a:r>
            <a:r>
              <a:rPr sz="13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40D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1300" kern="0" spc="210" dirty="0">
                <a:solidFill>
                  <a:srgbClr val="40D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40D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hours</a:t>
            </a:r>
            <a:r>
              <a:rPr sz="1300" kern="0" spc="-20" dirty="0">
                <a:solidFill>
                  <a:srgbClr val="40D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9398059" y="1872678"/>
            <a:ext cx="1988185" cy="145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1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700" b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Behavioral</a:t>
            </a: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Pattern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700" b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Recognition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2000"/>
              </a:lnSpc>
              <a:spcBef>
                <a:spcPts val="1041"/>
              </a:spcBef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Neural</a:t>
            </a:r>
            <a:r>
              <a:rPr sz="13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network</a:t>
            </a:r>
            <a:r>
              <a:rPr sz="13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alg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orithms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identifying  24  distinct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7000"/>
              </a:lnSpc>
              <a:spcBef>
                <a:spcPts val="8"/>
              </a:spcBef>
              <a:tabLst/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behavioral</a:t>
            </a:r>
            <a:r>
              <a:rPr sz="13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indicators</a:t>
            </a:r>
            <a:r>
              <a:rPr sz="13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300" kern="0" spc="-10" dirty="0">
                <a:solidFill>
                  <a:srgbClr val="20C0C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94.3%</a:t>
            </a:r>
            <a:r>
              <a:rPr sz="1300" kern="0" spc="80" dirty="0">
                <a:solidFill>
                  <a:srgbClr val="20C0C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sensitivity.</a:t>
            </a:r>
            <a:endParaRPr sz="1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1936800" y="1910169"/>
            <a:ext cx="2015489" cy="142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13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Real-time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spcBef>
                <a:spcPts val="322"/>
              </a:spcBef>
              <a:tabLst/>
            </a:pPr>
            <a:r>
              <a:rPr sz="1700" b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Attendance Trackin</a:t>
            </a:r>
            <a:r>
              <a:rPr sz="1700" b="1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9000"/>
              </a:lnSpc>
              <a:spcBef>
                <a:spcPts val="963"/>
              </a:spcBef>
              <a:tabLst/>
            </a:pP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Facial</a:t>
            </a:r>
            <a:r>
              <a:rPr sz="13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recognition and</a:t>
            </a:r>
            <a:r>
              <a:rPr sz="13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RFID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integration</a:t>
            </a:r>
            <a:r>
              <a:rPr sz="13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3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20D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99.8%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1000"/>
              </a:lnSpc>
              <a:spcBef>
                <a:spcPts val="11"/>
              </a:spcBef>
              <a:tabLst/>
            </a:pP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accuracy,r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educing  manual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tracking</a:t>
            </a:r>
            <a:r>
              <a:rPr sz="13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ti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</a:t>
            </a:r>
            <a:r>
              <a:rPr sz="1300" kern="0" spc="2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by </a:t>
            </a:r>
            <a:r>
              <a:rPr sz="1300" kern="0" spc="-10" dirty="0">
                <a:solidFill>
                  <a:srgbClr val="20E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87%.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pic>
        <p:nvPicPr>
          <p:cNvPr id="176" name="picture 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312359" y="4483074"/>
            <a:ext cx="1879640" cy="1479544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063739" y="4032229"/>
            <a:ext cx="1231879" cy="1574802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292559" y="1530363"/>
            <a:ext cx="1257360" cy="1530362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43618" y="4203679"/>
            <a:ext cx="1257360" cy="1511297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15939" y="1536672"/>
            <a:ext cx="1219200" cy="1511297"/>
          </a:xfrm>
          <a:prstGeom prst="rect">
            <a:avLst/>
          </a:prstGeom>
        </p:spPr>
      </p:pic>
      <p:pic>
        <p:nvPicPr>
          <p:cNvPr id="186" name="picture 18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020020" y="1758939"/>
            <a:ext cx="1251020" cy="1289029"/>
          </a:xfrm>
          <a:prstGeom prst="rect">
            <a:avLst/>
          </a:prstGeom>
        </p:spPr>
      </p:pic>
      <p:pic>
        <p:nvPicPr>
          <p:cNvPr id="188" name="picture 1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25500" y="5562592"/>
            <a:ext cx="933419" cy="927133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96920" y="4997424"/>
            <a:ext cx="285780" cy="317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05218" y="1314472"/>
            <a:ext cx="4413260" cy="4273494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2203705" y="166380"/>
            <a:ext cx="8187690" cy="490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2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3700" b="1" i="1" u="sng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Core</a:t>
            </a:r>
            <a:r>
              <a:rPr sz="3700" b="1" i="1" u="sng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700" b="1" i="1" u="sng" kern="0" spc="-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 &amp;Technical Capabilities</a:t>
            </a:r>
            <a:endParaRPr sz="3700" i="1" u="sng" dirty="0">
              <a:latin typeface="Arial"/>
              <a:ea typeface="Arial"/>
              <a:cs typeface="Arial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8400998" y="2311781"/>
            <a:ext cx="2756535" cy="997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4000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End-to-end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encryption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400" kern="0" spc="1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zero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knowledge</a:t>
            </a:r>
            <a:r>
              <a:rPr sz="14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architecture</a:t>
            </a:r>
            <a:r>
              <a:rPr sz="14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ensuring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complete</a:t>
            </a:r>
            <a:r>
              <a:rPr sz="14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confidentiality</a:t>
            </a:r>
            <a:r>
              <a:rPr sz="14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all</a:t>
            </a:r>
            <a:r>
              <a:rPr sz="1400" kern="0" spc="2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interactions.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4571979" y="5696272"/>
            <a:ext cx="2980689" cy="730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Seamless functionality 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cross mobile,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desktop,and</a:t>
            </a:r>
            <a:r>
              <a:rPr sz="14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wea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rable</a:t>
            </a:r>
            <a:r>
              <a:rPr sz="1400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devices</a:t>
            </a:r>
            <a:r>
              <a:rPr sz="14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synchronized</a:t>
            </a:r>
            <a:r>
              <a:rPr sz="14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400" kern="0" spc="3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protection.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774659" y="4400933"/>
            <a:ext cx="2928620" cy="730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0000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Secure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conversation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platform</a:t>
            </a:r>
            <a:r>
              <a:rPr sz="1400" kern="0" spc="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sing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NLP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4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provide</a:t>
            </a:r>
            <a:r>
              <a:rPr sz="14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personali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zed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support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without</a:t>
            </a:r>
            <a:r>
              <a:rPr sz="1400" kern="0" spc="3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requiring</a:t>
            </a:r>
            <a:r>
              <a:rPr sz="14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</a:t>
            </a:r>
            <a:r>
              <a:rPr sz="14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identification.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8400998" y="4390133"/>
            <a:ext cx="2771775" cy="744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71"/>
              </a:lnSpc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Al-powered as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sistance available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71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round-the-clock</a:t>
            </a:r>
            <a:r>
              <a:rPr sz="14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400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average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08"/>
              </a:lnSpc>
              <a:spcBef>
                <a:spcPts val="7"/>
              </a:spcBef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response time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4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under</a:t>
            </a:r>
            <a:r>
              <a:rPr sz="14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1400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seconds.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774659" y="2311781"/>
            <a:ext cx="2858135" cy="712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57150" algn="l" rtl="0" eaLnBrk="0">
              <a:lnSpc>
                <a:spcPct val="105000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Real-time analysis of voice patterns</a:t>
            </a: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text</a:t>
            </a:r>
            <a:r>
              <a:rPr sz="14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inputs</a:t>
            </a:r>
            <a:r>
              <a:rPr sz="14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400" kern="0" spc="1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fy</a:t>
            </a:r>
            <a:r>
              <a:rPr sz="14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stress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79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levels</a:t>
            </a:r>
            <a:r>
              <a:rPr sz="14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400" kern="0" spc="2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94%accuracy.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1511300" y="3768298"/>
            <a:ext cx="2174875" cy="560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11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Anonymous</a:t>
            </a:r>
            <a:r>
              <a:rPr sz="1900" b="1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</a:t>
            </a:r>
            <a:r>
              <a:rPr sz="19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Health Chatbot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9143980" y="1669872"/>
            <a:ext cx="1871345" cy="572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2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1000"/>
              </a:lnSpc>
              <a:tabLst/>
            </a:pPr>
            <a:r>
              <a:rPr sz="19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Military-Gr</a:t>
            </a:r>
            <a:r>
              <a:rPr sz="19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ade</a:t>
            </a:r>
            <a:endParaRPr sz="1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spcBef>
                <a:spcPts val="5"/>
              </a:spcBef>
              <a:tabLst/>
            </a:pP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Privacy</a:t>
            </a:r>
            <a:r>
              <a:rPr sz="1800" b="1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Protocols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1511300" y="1704721"/>
            <a:ext cx="2087245" cy="541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64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8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Advanced AI Stress</a:t>
            </a:r>
            <a:r>
              <a:rPr sz="18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-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Detection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9175801" y="3800492"/>
            <a:ext cx="1852295" cy="509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53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85000"/>
              </a:lnSpc>
              <a:tabLst/>
            </a:pPr>
            <a:r>
              <a:rPr sz="19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24/7 Automated</a:t>
            </a:r>
            <a:r>
              <a:rPr sz="19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900" b="1" kern="0" spc="-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Support S</a:t>
            </a:r>
            <a:r>
              <a:rPr sz="1900" b="1" kern="0" spc="-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ervices</a:t>
            </a:r>
            <a:endParaRPr sz="1900" dirty="0">
              <a:latin typeface="Arial"/>
              <a:ea typeface="Arial"/>
              <a:cs typeface="Arial"/>
            </a:endParaRPr>
          </a:p>
        </p:txBody>
      </p:sp>
      <p:pic>
        <p:nvPicPr>
          <p:cNvPr id="216" name="picture 2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13699" y="3638580"/>
            <a:ext cx="704941" cy="628604"/>
          </a:xfrm>
          <a:prstGeom prst="rect">
            <a:avLst/>
          </a:prstGeom>
        </p:spPr>
      </p:pic>
      <p:pic>
        <p:nvPicPr>
          <p:cNvPr id="218" name="picture 2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93699" y="3632202"/>
            <a:ext cx="647761" cy="641360"/>
          </a:xfrm>
          <a:prstGeom prst="rect">
            <a:avLst/>
          </a:prstGeom>
        </p:spPr>
      </p:pic>
      <p:pic>
        <p:nvPicPr>
          <p:cNvPr id="220" name="picture 2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62000" y="1574802"/>
            <a:ext cx="660440" cy="622294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58200" y="1574803"/>
            <a:ext cx="552419" cy="641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26" name="picture 2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956840" y="1143023"/>
            <a:ext cx="1885858" cy="2070086"/>
          </a:xfrm>
          <a:prstGeom prst="rect">
            <a:avLst/>
          </a:prstGeom>
        </p:spPr>
      </p:pic>
      <p:sp>
        <p:nvSpPr>
          <p:cNvPr id="228" name="textbox 228"/>
          <p:cNvSpPr/>
          <p:nvPr/>
        </p:nvSpPr>
        <p:spPr>
          <a:xfrm>
            <a:off x="2355839" y="698528"/>
            <a:ext cx="7440930" cy="503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8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 Chatbot &amp;Support</a:t>
            </a:r>
            <a:r>
              <a:rPr sz="3800" b="1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8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Framework</a:t>
            </a:r>
            <a:endParaRPr sz="3800" dirty="0">
              <a:latin typeface="Arial"/>
              <a:ea typeface="Arial"/>
              <a:cs typeface="Arial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800140" y="4197730"/>
            <a:ext cx="1752600" cy="1226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7815" indent="-285115" algn="l" rtl="0" eaLnBrk="0">
              <a:lnSpc>
                <a:spcPct val="118000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Offering</a:t>
            </a:r>
            <a:r>
              <a:rPr sz="1400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confidential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</a:t>
            </a:r>
            <a:r>
              <a:rPr sz="1400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health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00964" algn="l" rtl="0" eaLnBrk="0">
              <a:lnSpc>
                <a:spcPct val="94000"/>
              </a:lnSpc>
              <a:spcBef>
                <a:spcPts val="7"/>
              </a:spcBef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assistance  wi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thout</a:t>
            </a:r>
            <a:endParaRPr sz="1400" dirty="0">
              <a:latin typeface="Arial"/>
              <a:ea typeface="Arial"/>
              <a:cs typeface="Arial"/>
            </a:endParaRPr>
          </a:p>
          <a:p>
            <a:pPr marL="323215" indent="-203200" algn="l" rtl="0" eaLnBrk="0">
              <a:lnSpc>
                <a:spcPct val="116000"/>
              </a:lnSpc>
              <a:spcBef>
                <a:spcPts val="15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requiring</a:t>
            </a:r>
            <a:r>
              <a:rPr sz="14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sonal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identification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819160" y="3563861"/>
            <a:ext cx="3996054" cy="513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600" algn="l" rtl="0" eaLnBrk="0">
              <a:lnSpc>
                <a:spcPct val="83000"/>
              </a:lnSpc>
              <a:tabLst/>
            </a:pP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Anonymous</a:t>
            </a: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</a:t>
            </a:r>
            <a:r>
              <a:rPr sz="2600" b="1" kern="0" spc="-30" baseline="-60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24/7</a:t>
            </a:r>
            <a:endParaRPr sz="2600" baseline="-601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437"/>
              </a:spcBef>
              <a:tabLst/>
            </a:pP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Support System:        Conversational Al: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3047979" y="4191353"/>
            <a:ext cx="1664970" cy="1177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ts val="1904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Always</a:t>
            </a:r>
            <a:r>
              <a:rPr sz="14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available</a:t>
            </a:r>
            <a:r>
              <a:rPr sz="1400" kern="0" spc="1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endParaRPr sz="1400" dirty="0">
              <a:latin typeface="Arial"/>
              <a:ea typeface="Arial"/>
              <a:cs typeface="Arial"/>
            </a:endParaRPr>
          </a:p>
          <a:p>
            <a:pPr marL="94614" algn="l" rtl="0" eaLnBrk="0">
              <a:lnSpc>
                <a:spcPts val="1807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chatbot</a:t>
            </a:r>
            <a:r>
              <a:rPr sz="14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providin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11"/>
              </a:lnSpc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immediate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response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ts val="1908"/>
              </a:lnSpc>
              <a:spcBef>
                <a:spcPts val="103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  mental</a:t>
            </a:r>
            <a:r>
              <a:rPr sz="14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healt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</a:t>
            </a: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63550" algn="l" rtl="0" eaLnBrk="0">
              <a:lnSpc>
                <a:spcPts val="1088"/>
              </a:lnSpc>
              <a:spcBef>
                <a:spcPts val="1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concerns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9753580" y="4275652"/>
            <a:ext cx="1537335" cy="1091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200" algn="l" rtl="0" eaLnBrk="0">
              <a:lnSpc>
                <a:spcPct val="81000"/>
              </a:lnSpc>
              <a:tabLst/>
            </a:pP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Positive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indent="5714" algn="l" rtl="0" eaLnBrk="0">
              <a:lnSpc>
                <a:spcPct val="103000"/>
              </a:lnSpc>
              <a:spcBef>
                <a:spcPts val="85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reinforcement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encouragement</a:t>
            </a:r>
            <a:r>
              <a:rPr sz="14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maintain</a:t>
            </a:r>
            <a:r>
              <a:rPr sz="1400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mental</a:t>
            </a:r>
            <a:endParaRPr sz="1400" dirty="0">
              <a:latin typeface="Arial"/>
              <a:ea typeface="Arial"/>
              <a:cs typeface="Arial"/>
            </a:endParaRPr>
          </a:p>
          <a:p>
            <a:pPr marL="368300" algn="l" rtl="0" eaLnBrk="0">
              <a:lnSpc>
                <a:spcPts val="1765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wellbeing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5207060" y="4213869"/>
            <a:ext cx="1753235" cy="953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08"/>
              </a:lnSpc>
              <a:tabLst/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Al-driven</a:t>
            </a:r>
            <a:r>
              <a:rPr sz="14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cu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stomized</a:t>
            </a:r>
            <a:endParaRPr sz="14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ct val="75000"/>
              </a:lnSpc>
              <a:spcBef>
                <a:spcPts val="278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stress</a:t>
            </a:r>
            <a:r>
              <a:rPr sz="1400" kern="0" spc="3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management</a:t>
            </a:r>
            <a:endParaRPr sz="14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ts val="1884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strategies</a:t>
            </a:r>
            <a:r>
              <a:rPr sz="1400" kern="0" spc="2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based</a:t>
            </a:r>
            <a:r>
              <a:rPr sz="1400" kern="0" spc="2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on</a:t>
            </a:r>
            <a:endParaRPr sz="1400" dirty="0">
              <a:latin typeface="Arial"/>
              <a:ea typeface="Arial"/>
              <a:cs typeface="Arial"/>
            </a:endParaRPr>
          </a:p>
          <a:p>
            <a:pPr marL="247015" algn="l" rtl="0" eaLnBrk="0">
              <a:lnSpc>
                <a:spcPts val="1908"/>
              </a:lnSpc>
              <a:spcBef>
                <a:spcPts val="69"/>
              </a:spcBef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individual</a:t>
            </a:r>
            <a:r>
              <a:rPr sz="14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needs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7480259" y="4199686"/>
            <a:ext cx="1658620" cy="966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100" algn="l" rtl="0" eaLnBrk="0">
              <a:lnSpc>
                <a:spcPts val="1871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Immediate   support</a:t>
            </a:r>
            <a:endParaRPr sz="1400" dirty="0">
              <a:latin typeface="Arial"/>
              <a:ea typeface="Arial"/>
              <a:cs typeface="Arial"/>
            </a:endParaRPr>
          </a:p>
          <a:p>
            <a:pPr marL="323215" algn="l" rtl="0" eaLnBrk="0">
              <a:lnSpc>
                <a:spcPts val="1855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during  crisis</a:t>
            </a:r>
            <a:endParaRPr sz="1400" dirty="0">
              <a:latin typeface="Arial"/>
              <a:ea typeface="Arial"/>
              <a:cs typeface="Arial"/>
            </a:endParaRPr>
          </a:p>
          <a:p>
            <a:pPr marL="228600" algn="l" rtl="0" eaLnBrk="0">
              <a:lnSpc>
                <a:spcPts val="1832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situations</a:t>
            </a:r>
            <a:r>
              <a:rPr sz="14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48"/>
              </a:lnSpc>
              <a:tabLst/>
            </a:pP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escalation</a:t>
            </a:r>
            <a:r>
              <a:rPr sz="1400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protocols</a:t>
            </a:r>
            <a:endParaRPr sz="1400" dirty="0">
              <a:latin typeface="Arial"/>
              <a:ea typeface="Arial"/>
              <a:cs typeface="Arial"/>
            </a:endParaRPr>
          </a:p>
        </p:txBody>
      </p:sp>
      <p:pic>
        <p:nvPicPr>
          <p:cNvPr id="242" name="picture 2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17640" y="2158967"/>
            <a:ext cx="1092159" cy="1073208"/>
          </a:xfrm>
          <a:prstGeom prst="rect">
            <a:avLst/>
          </a:prstGeom>
        </p:spPr>
      </p:pic>
      <p:pic>
        <p:nvPicPr>
          <p:cNvPr id="244" name="picture 2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30900" y="2184410"/>
            <a:ext cx="1117518" cy="1047765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40120" y="2171723"/>
            <a:ext cx="1073139" cy="1060452"/>
          </a:xfrm>
          <a:prstGeom prst="rect">
            <a:avLst/>
          </a:prstGeom>
        </p:spPr>
      </p:pic>
      <p:pic>
        <p:nvPicPr>
          <p:cNvPr id="248" name="picture 2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766059" y="2190719"/>
            <a:ext cx="1104838" cy="939820"/>
          </a:xfrm>
          <a:prstGeom prst="rect">
            <a:avLst/>
          </a:prstGeom>
        </p:spPr>
      </p:pic>
      <p:sp>
        <p:nvSpPr>
          <p:cNvPr id="250" name="textbox 250"/>
          <p:cNvSpPr/>
          <p:nvPr/>
        </p:nvSpPr>
        <p:spPr>
          <a:xfrm>
            <a:off x="5454680" y="3588801"/>
            <a:ext cx="1276985" cy="478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7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" indent="-31115" algn="l" rtl="0" eaLnBrk="0">
              <a:lnSpc>
                <a:spcPct val="89000"/>
              </a:lnSpc>
              <a:tabLst/>
            </a:pPr>
            <a:r>
              <a:rPr sz="1700" b="1" kern="0" spc="-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Personalized</a:t>
            </a:r>
            <a:r>
              <a:rPr sz="17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Techniques: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7677159" y="3601556"/>
            <a:ext cx="1303655" cy="492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82000"/>
              </a:lnSpc>
              <a:tabLst/>
            </a:pPr>
            <a:r>
              <a:rPr sz="17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Real-time</a:t>
            </a:r>
            <a:endParaRPr sz="1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327"/>
              </a:spcBef>
              <a:tabLst/>
            </a:pPr>
            <a:r>
              <a:rPr sz="17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Intervention: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254" name="picture 2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36499" y="1460479"/>
            <a:ext cx="736640" cy="723930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9880620" y="3588801"/>
            <a:ext cx="1291589" cy="492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2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9850" indent="-57150" algn="l" rtl="0" eaLnBrk="0">
              <a:lnSpc>
                <a:spcPct val="92000"/>
              </a:lnSpc>
              <a:tabLst/>
            </a:pP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Motivational</a:t>
            </a:r>
            <a:r>
              <a:rPr sz="17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Framework: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pic>
        <p:nvPicPr>
          <p:cNvPr id="258" name="picture 2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252240" y="5372077"/>
            <a:ext cx="603260" cy="590542"/>
          </a:xfrm>
          <a:prstGeom prst="rect">
            <a:avLst/>
          </a:prstGeom>
        </p:spPr>
      </p:pic>
      <p:pic>
        <p:nvPicPr>
          <p:cNvPr id="260" name="picture 2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1683959" y="4978427"/>
            <a:ext cx="279440" cy="285704"/>
          </a:xfrm>
          <a:prstGeom prst="rect">
            <a:avLst/>
          </a:prstGeom>
        </p:spPr>
      </p:pic>
      <p:pic>
        <p:nvPicPr>
          <p:cNvPr id="262" name="picture 2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162019" y="1346225"/>
            <a:ext cx="247741" cy="234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2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673120" y="1263655"/>
            <a:ext cx="3467039" cy="2863831"/>
            <a:chOff x="0" y="0"/>
            <a:chExt cx="3467039" cy="2863831"/>
          </a:xfrm>
        </p:grpSpPr>
        <p:pic>
          <p:nvPicPr>
            <p:cNvPr id="266" name="picture 2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467039" cy="2863831"/>
            </a:xfrm>
            <a:prstGeom prst="rect">
              <a:avLst/>
            </a:prstGeom>
          </p:spPr>
        </p:pic>
        <p:sp>
          <p:nvSpPr>
            <p:cNvPr id="268" name="textbox 268"/>
            <p:cNvSpPr/>
            <p:nvPr/>
          </p:nvSpPr>
          <p:spPr>
            <a:xfrm>
              <a:off x="-12700" y="-12700"/>
              <a:ext cx="3492500" cy="28943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51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0" algn="l" rtl="0" eaLnBrk="0">
                <a:lnSpc>
                  <a:spcPct val="83000"/>
                </a:lnSpc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Reduced Stud</a:t>
              </a:r>
              <a:r>
                <a:rPr sz="1800" b="1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ent</a:t>
              </a:r>
              <a:endParaRPr sz="1800" dirty="0">
                <a:latin typeface="Arial"/>
                <a:ea typeface="Arial"/>
                <a:cs typeface="Arial"/>
              </a:endParaRPr>
            </a:p>
            <a:p>
              <a:pPr marL="234950" algn="l" rtl="0" eaLnBrk="0">
                <a:lnSpc>
                  <a:spcPct val="84000"/>
                </a:lnSpc>
                <a:spcBef>
                  <a:spcPts val="330"/>
                </a:spcBef>
                <a:tabLst/>
              </a:pP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Dropout</a:t>
              </a:r>
              <a:r>
                <a:rPr sz="1800" b="1" kern="0" spc="1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Rates</a:t>
              </a:r>
              <a:r>
                <a:rPr sz="1800" b="1" kern="0" spc="1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800" b="1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by 32%</a:t>
              </a:r>
              <a:endParaRPr sz="18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34950" algn="l" rtl="0" eaLnBrk="0">
                <a:lnSpc>
                  <a:spcPct val="114000"/>
                </a:lnSpc>
                <a:spcBef>
                  <a:spcPts val="7"/>
                </a:spcBef>
                <a:tabLst/>
              </a:pP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Predictive</a:t>
              </a:r>
              <a:r>
                <a:rPr sz="1300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analytics</a:t>
              </a:r>
              <a:r>
                <a:rPr sz="1300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identify</a:t>
              </a:r>
              <a:r>
                <a:rPr sz="1300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at</a:t>
              </a:r>
              <a:r>
                <a:rPr sz="1300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-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risk             </a:t>
              </a: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students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</a:t>
              </a:r>
              <a:r>
                <a:rPr sz="13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earlier,e</a:t>
              </a: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nabling</a:t>
              </a:r>
              <a:r>
                <a:rPr sz="1300" kern="0" spc="18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3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timely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intervention</a:t>
              </a:r>
              <a:r>
                <a:rPr sz="13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</a:t>
              </a:r>
              <a:r>
                <a:rPr sz="13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strategies</a:t>
              </a:r>
              <a:r>
                <a:rPr sz="1300" kern="0" spc="6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</a:t>
              </a:r>
              <a:endParaRPr sz="1300" dirty="0">
                <a:latin typeface="Arial"/>
                <a:ea typeface="Arial"/>
                <a:cs typeface="Arial"/>
              </a:endParaRPr>
            </a:p>
          </p:txBody>
        </p:sp>
      </p:grpSp>
      <p:graphicFrame>
        <p:nvGraphicFramePr>
          <p:cNvPr id="270" name="table 270"/>
          <p:cNvGraphicFramePr>
            <a:graphicFrameLocks noGrp="1"/>
          </p:cNvGraphicFramePr>
          <p:nvPr/>
        </p:nvGraphicFramePr>
        <p:xfrm>
          <a:off x="4584679" y="3240405"/>
          <a:ext cx="6145530" cy="685800"/>
        </p:xfrm>
        <a:graphic>
          <a:graphicData uri="http://schemas.openxmlformats.org/drawingml/2006/table">
            <a:tbl>
              <a:tblPr/>
              <a:tblGrid>
                <a:gridCol w="330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0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95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Students</a:t>
                      </a:r>
                      <a:r>
                        <a:rPr sz="1300" kern="0" spc="1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receiving</a:t>
                      </a:r>
                      <a:r>
                        <a:rPr sz="1300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Al-reco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mmended</a:t>
                      </a:r>
                      <a:r>
                        <a:rPr sz="13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</a:t>
                      </a: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resources</a:t>
                      </a:r>
                      <a:r>
                        <a:rPr sz="13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sh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ow</a:t>
                      </a:r>
                      <a:r>
                        <a:rPr sz="13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significant</a:t>
                      </a:r>
                      <a:r>
                        <a:rPr sz="13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grade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785"/>
                        </a:lnSpc>
                        <a:tabLst/>
                      </a:pP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improvements</a:t>
                      </a:r>
                      <a:r>
                        <a:rPr sz="1300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acr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oss</a:t>
                      </a:r>
                      <a:r>
                        <a:rPr sz="1300" kern="0" spc="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disciplines.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>
                        <a:lnSpc>
                          <a:spcPts val="1840"/>
                        </a:lnSpc>
                        <a:tabLst/>
                      </a:pP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Higher  rank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ings</a:t>
                      </a:r>
                      <a:r>
                        <a:rPr sz="13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 educational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3859" algn="l" rtl="0" eaLnBrk="0">
                        <a:lnSpc>
                          <a:spcPts val="1593"/>
                        </a:lnSpc>
                        <a:spcBef>
                          <a:spcPts val="228"/>
                        </a:spcBef>
                        <a:tabLst/>
                      </a:pPr>
                      <a:r>
                        <a:rPr sz="13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excellenc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13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metrics</a:t>
                      </a:r>
                      <a:r>
                        <a:rPr sz="1300" kern="0" spc="3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translate</a:t>
                      </a:r>
                      <a:r>
                        <a:rPr sz="1300" kern="0" spc="3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3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3859" algn="l" rtl="0" eaLnBrk="0">
                        <a:lnSpc>
                          <a:spcPts val="1593"/>
                        </a:lnSpc>
                        <a:tabLst/>
                      </a:pPr>
                      <a:r>
                        <a:rPr sz="13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increased</a:t>
                      </a:r>
                      <a:r>
                        <a:rPr sz="13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3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applications</a:t>
                      </a:r>
                      <a:r>
                        <a:rPr sz="13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13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2" name="textbox 272"/>
          <p:cNvSpPr/>
          <p:nvPr/>
        </p:nvSpPr>
        <p:spPr>
          <a:xfrm>
            <a:off x="2914599" y="4782936"/>
            <a:ext cx="2608579" cy="1614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45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ROl</a:t>
            </a:r>
            <a:r>
              <a:rPr sz="1800" b="1" kern="0" spc="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:$3.2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1800" b="1" kern="0" spc="3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Net</a:t>
            </a:r>
            <a:r>
              <a:rPr sz="1800" b="1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Savings </a:t>
            </a: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Over 5 Yea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rs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6000"/>
              </a:lnSpc>
              <a:spcBef>
                <a:spcPts val="4"/>
              </a:spcBef>
              <a:tabLst/>
            </a:pP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Cost  reductions</a:t>
            </a:r>
            <a:r>
              <a:rPr sz="1300" kern="0" spc="8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retention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programs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offset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increased       </a:t>
            </a: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graduation  ra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</a:t>
            </a:r>
            <a:r>
              <a:rPr sz="13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1300" kern="0" spc="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alumni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donations.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pic>
        <p:nvPicPr>
          <p:cNvPr id="274" name="picture 2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217139" y="1358912"/>
            <a:ext cx="1422440" cy="1339847"/>
          </a:xfrm>
          <a:prstGeom prst="rect">
            <a:avLst/>
          </a:prstGeom>
        </p:spPr>
      </p:pic>
      <p:sp>
        <p:nvSpPr>
          <p:cNvPr id="276" name="textbox 276"/>
          <p:cNvSpPr/>
          <p:nvPr/>
        </p:nvSpPr>
        <p:spPr>
          <a:xfrm>
            <a:off x="4571979" y="2538144"/>
            <a:ext cx="6761480" cy="612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1"/>
              </a:lnSpc>
              <a:tabLst/>
            </a:pPr>
            <a:r>
              <a:rPr sz="18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15%Improvement 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                        Enhanced Institutional</a:t>
            </a:r>
            <a:endParaRPr sz="1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11"/>
              </a:lnSpc>
              <a:tabLst/>
            </a:pPr>
            <a:r>
              <a:rPr sz="2800" b="1" kern="0" spc="-30" baseline="10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Academic</a:t>
            </a:r>
            <a:r>
              <a:rPr sz="1800" b="1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800" b="1" kern="0" spc="-30" baseline="10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Performance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Reputation Score(+24</a:t>
            </a:r>
            <a:r>
              <a:rPr sz="1800" b="1" kern="0" spc="9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points)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8350279" y="4804517"/>
            <a:ext cx="2771775" cy="1389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800" b="1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89%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Student</a:t>
            </a:r>
            <a:r>
              <a:rPr sz="1800" b="1" kern="0" spc="2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Satisfaction Rating</a:t>
            </a:r>
            <a:endParaRPr sz="1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26000"/>
              </a:lnSpc>
              <a:spcBef>
                <a:spcPts val="5"/>
              </a:spcBef>
              <a:tabLst/>
            </a:pP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Personalize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300" kern="0" spc="3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learning</a:t>
            </a:r>
            <a:r>
              <a:rPr sz="1300" kern="0" spc="3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experiences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lead</a:t>
            </a:r>
            <a:r>
              <a:rPr sz="1300" kern="0" spc="3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to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higher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engagement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     </a:t>
            </a: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educational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3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out</a:t>
            </a:r>
            <a:r>
              <a:rPr sz="13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comes.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4513520" y="635693"/>
            <a:ext cx="5544184" cy="515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39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Benefits &amp;ROI Analysis</a:t>
            </a:r>
            <a:endParaRPr sz="3900" dirty="0">
              <a:latin typeface="Arial"/>
              <a:ea typeface="Arial"/>
              <a:cs typeface="Arial"/>
            </a:endParaRPr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52560" y="4679967"/>
            <a:ext cx="1708099" cy="1428727"/>
          </a:xfrm>
          <a:prstGeom prst="rect">
            <a:avLst/>
          </a:prstGeom>
        </p:spPr>
      </p:pic>
      <p:pic>
        <p:nvPicPr>
          <p:cNvPr id="284" name="picture 2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59539" y="4711720"/>
            <a:ext cx="1441460" cy="1352534"/>
          </a:xfrm>
          <a:prstGeom prst="rect">
            <a:avLst/>
          </a:prstGeom>
        </p:spPr>
      </p:pic>
      <p:sp>
        <p:nvSpPr>
          <p:cNvPr id="286" name="textbox 286"/>
          <p:cNvSpPr/>
          <p:nvPr/>
        </p:nvSpPr>
        <p:spPr>
          <a:xfrm>
            <a:off x="2152599" y="641713"/>
            <a:ext cx="2211704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39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Expected</a:t>
            </a:r>
            <a:endParaRPr sz="3900" dirty="0">
              <a:latin typeface="Arial"/>
              <a:ea typeface="Arial"/>
              <a:cs typeface="Arial"/>
            </a:endParaRPr>
          </a:p>
        </p:txBody>
      </p:sp>
      <p:pic>
        <p:nvPicPr>
          <p:cNvPr id="288" name="picture 28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0" y="0"/>
            <a:ext cx="774679" cy="1238280"/>
          </a:xfrm>
          <a:prstGeom prst="rect">
            <a:avLst/>
          </a:prstGeom>
        </p:spPr>
      </p:pic>
      <p:pic>
        <p:nvPicPr>
          <p:cNvPr id="290" name="picture 2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099840" y="88879"/>
            <a:ext cx="717499" cy="673112"/>
          </a:xfrm>
          <a:prstGeom prst="rect">
            <a:avLst/>
          </a:prstGeom>
        </p:spPr>
      </p:pic>
      <p:pic>
        <p:nvPicPr>
          <p:cNvPr id="292" name="picture 29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1703101" y="768370"/>
            <a:ext cx="488898" cy="844562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286780" y="1739874"/>
            <a:ext cx="603260" cy="628672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584679" y="1739874"/>
            <a:ext cx="609600" cy="615985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111300" y="95257"/>
            <a:ext cx="368198" cy="3555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02" name="textbox 302"/>
          <p:cNvSpPr/>
          <p:nvPr/>
        </p:nvSpPr>
        <p:spPr>
          <a:xfrm>
            <a:off x="292100" y="50805"/>
            <a:ext cx="11741784" cy="2141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1800" algn="ctr" rtl="0" eaLnBrk="0">
              <a:lnSpc>
                <a:spcPct val="77000"/>
              </a:lnSpc>
              <a:spcBef>
                <a:spcPts val="3"/>
              </a:spcBef>
              <a:tabLst/>
            </a:pPr>
            <a:r>
              <a:rPr sz="3400" b="1" i="1" u="sng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Implementation Strategy &amp;Future</a:t>
            </a:r>
            <a:r>
              <a:rPr sz="3400" b="1" i="1" u="sng" kern="0" spc="17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400" b="1" i="1" u="sng" kern="0" spc="-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Roadmap   </a:t>
            </a:r>
            <a:r>
              <a:rPr sz="3400" b="1" i="1" u="sng" kern="0" spc="-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endParaRPr sz="3400" b="1" i="1" u="sng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015" algn="l" rtl="0" eaLnBrk="0">
              <a:lnSpc>
                <a:spcPct val="72000"/>
              </a:lnSpc>
              <a:spcBef>
                <a:spcPts val="1332"/>
              </a:spcBef>
              <a:tabLst>
                <a:tab pos="6388100" algn="l"/>
              </a:tabLst>
            </a:pPr>
            <a:r>
              <a:rPr sz="4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4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△</a:t>
            </a:r>
            <a:endParaRPr sz="4400" dirty="0">
              <a:latin typeface="SimSun"/>
              <a:ea typeface="SimSun"/>
              <a:cs typeface="SimSun"/>
            </a:endParaRPr>
          </a:p>
          <a:p>
            <a:pPr marL="1739900" algn="l" rtl="0" eaLnBrk="0">
              <a:lnSpc>
                <a:spcPct val="75000"/>
              </a:lnSpc>
              <a:spcBef>
                <a:spcPts val="83"/>
              </a:spcBef>
              <a:tabLst/>
            </a:pP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Implementation S</a:t>
            </a:r>
            <a:r>
              <a:rPr sz="20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trategy                                                 Future</a:t>
            </a:r>
            <a:r>
              <a:rPr sz="2000" b="1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-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Roadmap</a:t>
            </a:r>
            <a:endParaRPr sz="2000" dirty="0">
              <a:latin typeface="Arial"/>
              <a:ea typeface="Arial"/>
              <a:cs typeface="Arial"/>
            </a:endParaRPr>
          </a:p>
        </p:txBody>
      </p:sp>
      <p:pic>
        <p:nvPicPr>
          <p:cNvPr id="304" name="picture 3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04800" y="1497142"/>
            <a:ext cx="615939" cy="452793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425939" y="2451118"/>
            <a:ext cx="4394240" cy="4406881"/>
          </a:xfrm>
          <a:prstGeom prst="rect">
            <a:avLst/>
          </a:prstGeom>
        </p:spPr>
      </p:pic>
      <p:graphicFrame>
        <p:nvGraphicFramePr>
          <p:cNvPr id="310" name="table 310"/>
          <p:cNvGraphicFramePr>
            <a:graphicFrameLocks noGrp="1"/>
          </p:cNvGraphicFramePr>
          <p:nvPr/>
        </p:nvGraphicFramePr>
        <p:xfrm>
          <a:off x="4552980" y="3781462"/>
          <a:ext cx="4128133" cy="1614280"/>
        </p:xfrm>
        <a:graphic>
          <a:graphicData uri="http://schemas.openxmlformats.org/drawingml/2006/table">
            <a:tbl>
              <a:tblPr/>
              <a:tblGrid>
                <a:gridCol w="2100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08455">
                <a:tc>
                  <a:txBody>
                    <a:bodyPr/>
                    <a:lstStyle/>
                    <a:p>
                      <a:pPr marL="31051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Scalabilit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600" algn="l" rtl="0" eaLnBrk="0">
                        <a:lnSpc>
                          <a:spcPct val="83000"/>
                        </a:lnSpc>
                        <a:spcBef>
                          <a:spcPts val="584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Architecture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0515" algn="l" rtl="0" eaLnBrk="0">
                        <a:lnSpc>
                          <a:spcPts val="1369"/>
                        </a:lnSpc>
                        <a:spcBef>
                          <a:spcPts val="773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Cloud-based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369"/>
                        </a:lnSpc>
                        <a:tabLst/>
                      </a:pPr>
                      <a:r>
                        <a:rPr sz="11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infrastructur</a:t>
                      </a:r>
                      <a:r>
                        <a:rPr sz="11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1100" kern="0" spc="2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designed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4" algn="l" rtl="0" eaLnBrk="0">
                        <a:lnSpc>
                          <a:spcPts val="1459"/>
                        </a:lnSpc>
                        <a:spcBef>
                          <a:spcPts val="60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11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scale</a:t>
                      </a:r>
                      <a:r>
                        <a:rPr sz="1100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from</a:t>
                      </a:r>
                      <a:r>
                        <a:rPr sz="1100" kern="0" spc="1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100</a:t>
                      </a:r>
                      <a:r>
                        <a:rPr sz="1100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ts val="1399"/>
                        </a:lnSpc>
                        <a:tabLst/>
                      </a:pPr>
                      <a:r>
                        <a:rPr sz="11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10,000+</a:t>
                      </a: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users</a:t>
                      </a:r>
                      <a:r>
                        <a:rPr sz="1100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with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8465" algn="l" rtl="0" eaLnBrk="0">
                        <a:lnSpc>
                          <a:spcPts val="1392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consistent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0515" algn="l" rtl="0" eaLnBrk="0">
                        <a:lnSpc>
                          <a:spcPts val="1396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performance.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61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679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9485" indent="-29210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Future</a:t>
                      </a:r>
                      <a:r>
                        <a:rPr sz="1400" b="1" kern="0" spc="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Emoti</a:t>
                      </a:r>
                      <a:r>
                        <a:rPr sz="14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</a:t>
                      </a:r>
                      <a:r>
                        <a:rPr sz="1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4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Analysis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0585" algn="l" rtl="0" eaLnBrk="0">
                        <a:lnSpc>
                          <a:spcPts val="1483"/>
                        </a:lnSpc>
                        <a:spcBef>
                          <a:spcPts val="105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Planned</a:t>
                      </a:r>
                      <a:r>
                        <a:rPr sz="11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2027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2319" algn="l" rtl="0" eaLnBrk="0">
                        <a:lnSpc>
                          <a:spcPct val="99000"/>
                        </a:lnSpc>
                        <a:spcBef>
                          <a:spcPts val="11"/>
                        </a:spcBef>
                        <a:tabLst/>
                      </a:pPr>
                      <a:r>
                        <a:rPr sz="11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enhancement to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incorporate  </a:t>
                      </a:r>
                      <a:r>
                        <a:rPr sz="11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sentiment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9769" algn="l" rtl="0" eaLnBrk="0">
                        <a:lnSpc>
                          <a:spcPts val="1468"/>
                        </a:lnSpc>
                        <a:tabLst/>
                      </a:pPr>
                      <a:r>
                        <a:rPr sz="11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analysis for deep</a:t>
                      </a:r>
                      <a:r>
                        <a:rPr sz="1100" kern="0" spc="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er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6284" algn="l" rtl="0" eaLnBrk="0">
                        <a:lnSpc>
                          <a:spcPts val="1558"/>
                        </a:lnSpc>
                        <a:tabLst/>
                      </a:pP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customer</a:t>
                      </a:r>
                      <a:r>
                        <a:rPr sz="11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1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insight</a:t>
                      </a:r>
                      <a:r>
                        <a:rPr sz="11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group 18"/>
          <p:cNvGrpSpPr/>
          <p:nvPr/>
        </p:nvGrpSpPr>
        <p:grpSpPr>
          <a:xfrm rot="21600000">
            <a:off x="666780" y="2432052"/>
            <a:ext cx="1898660" cy="3194044"/>
            <a:chOff x="0" y="0"/>
            <a:chExt cx="1898660" cy="3194044"/>
          </a:xfrm>
        </p:grpSpPr>
        <p:pic>
          <p:nvPicPr>
            <p:cNvPr id="312" name="picture 3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1898660" cy="3194044"/>
            </a:xfrm>
            <a:prstGeom prst="rect">
              <a:avLst/>
            </a:prstGeom>
          </p:spPr>
        </p:pic>
        <p:sp>
          <p:nvSpPr>
            <p:cNvPr id="314" name="textbox 314"/>
            <p:cNvSpPr/>
            <p:nvPr/>
          </p:nvSpPr>
          <p:spPr>
            <a:xfrm>
              <a:off x="-12700" y="-12700"/>
              <a:ext cx="1924685" cy="3219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09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2115" algn="l" rtl="0" eaLnBrk="0">
                <a:lnSpc>
                  <a:spcPts val="1070"/>
                </a:lnSpc>
                <a:tabLst/>
              </a:pPr>
              <a:r>
                <a:rPr sz="14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Phased</a:t>
              </a:r>
              <a:r>
                <a:rPr sz="1400" b="1" kern="0" spc="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ERP</a:t>
              </a:r>
              <a:endParaRPr sz="1400" dirty="0">
                <a:latin typeface="Arial"/>
                <a:ea typeface="Arial"/>
                <a:cs typeface="Arial"/>
              </a:endParaRPr>
            </a:p>
            <a:p>
              <a:pPr marL="412115" algn="l" rtl="0" eaLnBrk="0">
                <a:lnSpc>
                  <a:spcPts val="1850"/>
                </a:lnSpc>
                <a:tabLst/>
              </a:pPr>
              <a:r>
                <a:rPr sz="1400" b="1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Integration</a:t>
              </a:r>
              <a:endParaRPr sz="1400" dirty="0">
                <a:latin typeface="Arial"/>
                <a:ea typeface="Arial"/>
                <a:cs typeface="Arial"/>
              </a:endParaRPr>
            </a:p>
            <a:p>
              <a:pPr marL="501015" algn="l" rtl="0" eaLnBrk="0">
                <a:lnSpc>
                  <a:spcPct val="84000"/>
                </a:lnSpc>
                <a:spcBef>
                  <a:spcPts val="1174"/>
                </a:spcBef>
                <a:tabLst/>
              </a:pP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Three-stage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marL="132714" algn="l" rtl="0" eaLnBrk="0">
                <a:lnSpc>
                  <a:spcPts val="1490"/>
                </a:lnSpc>
                <a:spcBef>
                  <a:spcPts val="82"/>
                </a:spcBef>
                <a:tabLst/>
              </a:pP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deployment</a:t>
              </a:r>
              <a:r>
                <a:rPr sz="1100" kern="0" spc="1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int</a:t>
              </a: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egrating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marL="412115" algn="l" rtl="0" eaLnBrk="0">
                <a:lnSpc>
                  <a:spcPts val="1399"/>
                </a:lnSpc>
                <a:tabLst/>
              </a:pP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with</a:t>
              </a:r>
              <a:r>
                <a:rPr sz="1100" kern="0" spc="2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enter</a:t>
              </a: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prise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marL="253365" algn="l" rtl="0" eaLnBrk="0">
                <a:lnSpc>
                  <a:spcPct val="100000"/>
                </a:lnSpc>
                <a:spcBef>
                  <a:spcPts val="5"/>
                </a:spcBef>
                <a:tabLst/>
              </a:pP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systems,minimizing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marL="539750" algn="l" rtl="0" eaLnBrk="0">
                <a:lnSpc>
                  <a:spcPts val="1381"/>
                </a:lnSpc>
                <a:tabLst/>
              </a:pP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operational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marL="551815" algn="l" rtl="0" eaLnBrk="0">
                <a:lnSpc>
                  <a:spcPts val="1533"/>
                </a:lnSpc>
                <a:tabLst/>
              </a:pP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disruption.</a:t>
              </a:r>
              <a:endParaRPr sz="11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9664719" y="2476492"/>
            <a:ext cx="1682739" cy="3028972"/>
            <a:chOff x="0" y="0"/>
            <a:chExt cx="1682739" cy="3028972"/>
          </a:xfrm>
        </p:grpSpPr>
        <p:pic>
          <p:nvPicPr>
            <p:cNvPr id="316" name="picture 3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682739" cy="3028972"/>
            </a:xfrm>
            <a:prstGeom prst="rect">
              <a:avLst/>
            </a:prstGeom>
          </p:spPr>
        </p:pic>
        <p:sp>
          <p:nvSpPr>
            <p:cNvPr id="318" name="textbox 318"/>
            <p:cNvSpPr/>
            <p:nvPr/>
          </p:nvSpPr>
          <p:spPr>
            <a:xfrm>
              <a:off x="-12700" y="-12700"/>
              <a:ext cx="1708150" cy="30549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44500" indent="-368300" algn="l" rtl="0" eaLnBrk="0">
                <a:lnSpc>
                  <a:spcPct val="100000"/>
                </a:lnSpc>
                <a:spcBef>
                  <a:spcPts val="1"/>
                </a:spcBef>
                <a:tabLst/>
              </a:pPr>
              <a:r>
                <a:rPr sz="1400" b="1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Voice</a:t>
              </a:r>
              <a:r>
                <a:rPr sz="1400" b="1" kern="0" spc="1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400" b="1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Recognition</a:t>
              </a:r>
              <a:r>
                <a:rPr sz="14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</a:t>
              </a:r>
              <a:r>
                <a:rPr sz="1400" b="1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Roadmap</a:t>
              </a:r>
              <a:endParaRPr sz="1400" dirty="0">
                <a:latin typeface="Arial"/>
                <a:ea typeface="Arial"/>
                <a:cs typeface="Arial"/>
              </a:endParaRPr>
            </a:p>
            <a:p>
              <a:pPr marL="132714" algn="l" rtl="0" eaLnBrk="0">
                <a:lnSpc>
                  <a:spcPts val="1502"/>
                </a:lnSpc>
                <a:spcBef>
                  <a:spcPts val="768"/>
                </a:spcBef>
                <a:tabLst/>
              </a:pP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Development</a:t>
              </a:r>
              <a:r>
                <a:rPr sz="1100" kern="0" spc="2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t</a:t>
              </a: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imeline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marL="132714" algn="l" rtl="0" eaLnBrk="0">
                <a:lnSpc>
                  <a:spcPts val="1399"/>
                </a:lnSpc>
                <a:tabLst/>
              </a:pP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for</a:t>
              </a:r>
              <a:r>
                <a:rPr sz="1100" kern="0" spc="35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multilingual</a:t>
              </a:r>
              <a:r>
                <a:rPr sz="1100" kern="0" spc="2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voice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marL="132714" algn="l" rtl="0" eaLnBrk="0">
                <a:lnSpc>
                  <a:spcPts val="1465"/>
                </a:lnSpc>
                <a:tabLst/>
              </a:pP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command</a:t>
              </a:r>
              <a:r>
                <a:rPr sz="1100" kern="0" spc="1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capabil</a:t>
              </a: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ities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marL="107314" algn="l" rtl="0" eaLnBrk="0">
                <a:lnSpc>
                  <a:spcPts val="1459"/>
                </a:lnSpc>
                <a:spcBef>
                  <a:spcPts val="147"/>
                </a:spcBef>
                <a:tabLst/>
              </a:pPr>
              <a:r>
                <a:rPr sz="11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scheduled</a:t>
              </a:r>
              <a:r>
                <a:rPr sz="1100" kern="0" spc="19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for</a:t>
              </a:r>
              <a:r>
                <a:rPr sz="1100" kern="0" spc="2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100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Q</a:t>
              </a:r>
              <a:r>
                <a:rPr sz="1100" kern="0" spc="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32026</a:t>
              </a:r>
              <a:endParaRPr sz="1100" dirty="0">
                <a:latin typeface="Arial"/>
                <a:ea typeface="Arial"/>
                <a:cs typeface="Arial"/>
              </a:endParaRPr>
            </a:p>
            <a:p>
              <a:pPr marL="603250" algn="l" rtl="0" eaLnBrk="0">
                <a:lnSpc>
                  <a:spcPts val="1459"/>
                </a:lnSpc>
                <a:tabLst/>
              </a:pPr>
              <a:r>
                <a:rPr sz="1100" kern="0" spc="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release.</a:t>
              </a:r>
              <a:endParaRPr sz="11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20" name="textbox 320"/>
          <p:cNvSpPr/>
          <p:nvPr/>
        </p:nvSpPr>
        <p:spPr>
          <a:xfrm>
            <a:off x="2749519" y="3770972"/>
            <a:ext cx="1350644" cy="1645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0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0650" indent="50165" algn="l" rtl="0" eaLnBrk="0">
              <a:lnSpc>
                <a:spcPct val="102000"/>
              </a:lnSpc>
              <a:tabLst/>
            </a:pP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Pilot Testing</a:t>
            </a:r>
            <a:r>
              <a:rPr sz="14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Methodology</a:t>
            </a:r>
            <a:endParaRPr sz="1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39"/>
              </a:lnSpc>
              <a:spcBef>
                <a:spcPts val="574"/>
              </a:spcBef>
              <a:tabLst/>
            </a:pPr>
            <a:r>
              <a:rPr sz="1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Controlled</a:t>
            </a:r>
            <a:r>
              <a:rPr sz="1100" kern="0" spc="2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testing</a:t>
            </a:r>
            <a:r>
              <a:rPr sz="1100" kern="0" spc="2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endParaRPr sz="11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ts val="1406"/>
              </a:lnSpc>
              <a:tabLst/>
            </a:pPr>
            <a:r>
              <a:rPr sz="11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select departments</a:t>
            </a:r>
            <a:r>
              <a:rPr sz="1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ts val="1375"/>
              </a:lnSpc>
              <a:tabLst/>
            </a:pPr>
            <a:r>
              <a:rPr sz="11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with</a:t>
            </a:r>
            <a:r>
              <a:rPr sz="1100" kern="0" spc="2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comprehensive</a:t>
            </a:r>
            <a:endParaRPr sz="1100" dirty="0">
              <a:latin typeface="Arial"/>
              <a:ea typeface="Arial"/>
              <a:cs typeface="Arial"/>
            </a:endParaRPr>
          </a:p>
          <a:p>
            <a:pPr marL="44450" algn="l" rtl="0" eaLnBrk="0">
              <a:lnSpc>
                <a:spcPts val="1507"/>
              </a:lnSpc>
              <a:tabLst/>
            </a:pPr>
            <a:r>
              <a:rPr sz="11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feedback loops</a:t>
            </a:r>
            <a:r>
              <a:rPr sz="1100" kern="0" spc="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endParaRPr sz="1100" dirty="0">
              <a:latin typeface="Arial"/>
              <a:ea typeface="Arial"/>
              <a:cs typeface="Arial"/>
            </a:endParaRPr>
          </a:p>
          <a:p>
            <a:pPr marL="405765" algn="l" rtl="0" eaLnBrk="0">
              <a:lnSpc>
                <a:spcPts val="1500"/>
              </a:lnSpc>
              <a:tabLst/>
            </a:pPr>
            <a:r>
              <a:rPr sz="11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iterative</a:t>
            </a:r>
            <a:endParaRPr sz="1100" dirty="0">
              <a:latin typeface="Arial"/>
              <a:ea typeface="Arial"/>
              <a:cs typeface="Arial"/>
            </a:endParaRPr>
          </a:p>
          <a:p>
            <a:pPr marL="228600" algn="l" rtl="0" eaLnBrk="0">
              <a:lnSpc>
                <a:spcPts val="1501"/>
              </a:lnSpc>
              <a:tabLst/>
            </a:pPr>
            <a:r>
              <a:rPr sz="1100" kern="0" spc="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improvement.</a:t>
            </a:r>
            <a:endParaRPr sz="1100" dirty="0">
              <a:latin typeface="Arial"/>
              <a:ea typeface="Arial"/>
              <a:cs typeface="Arial"/>
            </a:endParaRPr>
          </a:p>
        </p:txBody>
      </p:sp>
      <p:pic>
        <p:nvPicPr>
          <p:cNvPr id="322" name="picture 3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48000" y="2749577"/>
            <a:ext cx="781019" cy="768301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851880" y="3841783"/>
            <a:ext cx="75566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picture 3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85659" cy="6858000"/>
          </a:xfrm>
          <a:prstGeom prst="rect">
            <a:avLst/>
          </a:prstGeom>
        </p:spPr>
      </p:pic>
      <p:pic>
        <p:nvPicPr>
          <p:cNvPr id="328" name="picture 3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321759" y="2222472"/>
            <a:ext cx="577900" cy="615985"/>
          </a:xfrm>
          <a:prstGeom prst="rect">
            <a:avLst/>
          </a:prstGeom>
        </p:spPr>
      </p:pic>
      <p:sp>
        <p:nvSpPr>
          <p:cNvPr id="330" name="textbox 330"/>
          <p:cNvSpPr/>
          <p:nvPr/>
        </p:nvSpPr>
        <p:spPr>
          <a:xfrm>
            <a:off x="2749519" y="2768630"/>
            <a:ext cx="6725284" cy="1669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9000" b="1" kern="0" spc="-80" dirty="0">
                <a:solidFill>
                  <a:srgbClr val="5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THANK YOU</a:t>
            </a:r>
            <a:endParaRPr sz="9000" dirty="0">
              <a:latin typeface="Arial"/>
              <a:ea typeface="Arial"/>
              <a:cs typeface="Arial"/>
            </a:endParaRPr>
          </a:p>
          <a:p>
            <a:pPr marL="1435100" algn="l" rtl="0" eaLnBrk="0">
              <a:lnSpc>
                <a:spcPct val="81000"/>
              </a:lnSpc>
              <a:spcBef>
                <a:spcPts val="548"/>
              </a:spcBef>
              <a:tabLst/>
            </a:pPr>
            <a:r>
              <a:rPr sz="3700" b="1" kern="0" spc="-150" dirty="0">
                <a:solidFill>
                  <a:srgbClr val="70C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For Your </a:t>
            </a:r>
            <a:r>
              <a:rPr sz="3700" b="1" kern="0" spc="-150" dirty="0">
                <a:solidFill>
                  <a:srgbClr val="287068">
                    <a:alpha val="100000"/>
                  </a:srgbClr>
                </a:solidFill>
                <a:latin typeface="Arial"/>
                <a:ea typeface="Arial"/>
                <a:cs typeface="Arial"/>
              </a:rPr>
              <a:t>At</a:t>
            </a:r>
            <a:r>
              <a:rPr sz="3700" b="1" kern="0" spc="-160" dirty="0">
                <a:solidFill>
                  <a:srgbClr val="287068">
                    <a:alpha val="100000"/>
                  </a:srgbClr>
                </a:solidFill>
                <a:latin typeface="Arial"/>
                <a:ea typeface="Arial"/>
                <a:cs typeface="Arial"/>
              </a:rPr>
              <a:t>tention</a:t>
            </a:r>
            <a:endParaRPr sz="3700" dirty="0">
              <a:latin typeface="Arial"/>
              <a:ea typeface="Arial"/>
              <a:cs typeface="Arial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1136639" y="5781311"/>
            <a:ext cx="9925050" cy="317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6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2300" kern="0" spc="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Presented</a:t>
            </a:r>
            <a:r>
              <a:rPr sz="2300" kern="0" spc="44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by</a:t>
            </a:r>
            <a:r>
              <a:rPr sz="2300" kern="0" spc="14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:</a:t>
            </a:r>
            <a:r>
              <a:rPr sz="2300" kern="0" spc="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Anoop</a:t>
            </a:r>
            <a:r>
              <a:rPr sz="2300" kern="0" spc="38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Gupta</a:t>
            </a:r>
            <a:r>
              <a:rPr sz="2300" kern="0" spc="14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300" kern="0" spc="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Govind</a:t>
            </a:r>
            <a:r>
              <a:rPr sz="2300" kern="0" spc="37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Singh</a:t>
            </a:r>
            <a:r>
              <a:rPr sz="2300" kern="0" spc="14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300" kern="0" spc="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Sonu</a:t>
            </a:r>
            <a:r>
              <a:rPr sz="2300" kern="0" spc="43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Pahan</a:t>
            </a:r>
            <a:r>
              <a:rPr sz="2300" kern="0" spc="14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2300" kern="0" spc="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Ananya</a:t>
            </a:r>
            <a:r>
              <a:rPr sz="2300" kern="0" spc="37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300" kern="0" spc="0" dirty="0">
                <a:solidFill>
                  <a:srgbClr val="B0E0E0">
                    <a:alpha val="100000"/>
                  </a:srgbClr>
                </a:solidFill>
                <a:latin typeface="Arial"/>
                <a:ea typeface="Arial"/>
                <a:cs typeface="Arial"/>
              </a:rPr>
              <a:t>Srivastava</a:t>
            </a:r>
            <a:endParaRPr sz="2300" dirty="0">
              <a:latin typeface="Arial"/>
              <a:ea typeface="Arial"/>
              <a:cs typeface="Arial"/>
            </a:endParaRPr>
          </a:p>
        </p:txBody>
      </p:sp>
      <p:pic>
        <p:nvPicPr>
          <p:cNvPr id="334" name="picture 3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645359" y="781058"/>
            <a:ext cx="622401" cy="609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Microsoft Office PowerPoint</Application>
  <PresentationFormat>Widescreen</PresentationFormat>
  <Paragraphs>392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SimSun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Ausu</cp:lastModifiedBy>
  <cp:revision>1</cp:revision>
  <dcterms:created xsi:type="dcterms:W3CDTF">2026-01-19T02:24:54Z</dcterms:created>
  <dcterms:modified xsi:type="dcterms:W3CDTF">2026-01-18T18:34:40Z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2026-01-19T02:25:02Z</vt:filetime>
  </property>
  <property fmtid="{D5CDD505-2E9C-101B-9397-08002B2CF9AE}" pid="4" name="UsrData">
    <vt:lpwstr>696d2572e73bb60001c4d075wl</vt:lpwstr>
  </property>
</Properties>
</file>